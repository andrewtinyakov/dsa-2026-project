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91d8eb98e74b2b" /><Relationship Type="http://schemas.openxmlformats.org/officeDocument/2006/relationships/extended-properties" Target="/docProps/app.xml" Id="Re6a6683013504ff4" /><Relationship Type="http://schemas.openxmlformats.org/officeDocument/2006/relationships/officeDocument" Target="/ppt/presentation.xml" Id="Rb9b3d24c52b64475" /></Relationships>
</file>

<file path=ppt/presentation.xml><?xml version="1.0" encoding="utf-8"?>
<p:presentation xmlns:p="http://schemas.openxmlformats.org/presentationml/2006/main">
  <p:sldMasterIdLst>
    <p:sldMasterId xmlns:r="http://schemas.openxmlformats.org/officeDocument/2006/relationships" id="2147483648" r:id="R206da2994d9c4600"/>
  </p:sldMasterIdLst>
  <p:notesMasterIdLst>
    <p:notesMasterId xmlns:r="http://schemas.openxmlformats.org/officeDocument/2006/relationships" r:id="Rd4ce42eacc1447eb"/>
  </p:notesMasterIdLst>
  <p:sldIdLst>
    <p:sldId xmlns:r="http://schemas.openxmlformats.org/officeDocument/2006/relationships" id="256" r:id="Rb3eb9dd2aec24962"/>
    <p:sldId xmlns:r="http://schemas.openxmlformats.org/officeDocument/2006/relationships" id="257" r:id="R1a7ebcbcbdf74e7d"/>
    <p:sldId xmlns:r="http://schemas.openxmlformats.org/officeDocument/2006/relationships" id="258" r:id="Rbb142916e67c47dd"/>
    <p:sldId xmlns:r="http://schemas.openxmlformats.org/officeDocument/2006/relationships" id="259" r:id="Rf49291560eb246ab"/>
    <p:sldId xmlns:r="http://schemas.openxmlformats.org/officeDocument/2006/relationships" id="260" r:id="Rb010eecc72914a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2328637efc4d3f" /><Relationship Type="http://schemas.openxmlformats.org/officeDocument/2006/relationships/slideMaster" Target="/ppt/slideMasters/slideMaster1.xml" Id="R206da2994d9c4600" /><Relationship Type="http://schemas.openxmlformats.org/officeDocument/2006/relationships/notesMaster" Target="/ppt/notesMasters/notesMaster1.xml" Id="Rd4ce42eacc1447eb" /><Relationship Type="http://schemas.openxmlformats.org/officeDocument/2006/relationships/presProps" Target="/ppt/presProps.xml" Id="Rf53bfebf19fa466d" /><Relationship Type="http://schemas.openxmlformats.org/officeDocument/2006/relationships/tableStyles" Target="/ppt/tableStyles.xml" Id="Rd5ecc4a59f0c43e3" /><Relationship Type="http://schemas.openxmlformats.org/officeDocument/2006/relationships/slide" Target="/ppt/slides/slide1.xml" Id="Rb3eb9dd2aec24962" /><Relationship Type="http://schemas.openxmlformats.org/officeDocument/2006/relationships/slide" Target="/ppt/slides/slide2.xml" Id="R1a7ebcbcbdf74e7d" /><Relationship Type="http://schemas.openxmlformats.org/officeDocument/2006/relationships/slide" Target="/ppt/slides/slide3.xml" Id="Rbb142916e67c47dd" /><Relationship Type="http://schemas.openxmlformats.org/officeDocument/2006/relationships/slide" Target="/ppt/slides/slide4.xml" Id="Rf49291560eb246ab" /><Relationship Type="http://schemas.openxmlformats.org/officeDocument/2006/relationships/slide" Target="/ppt/slides/slide5.xml" Id="Rb010eecc72914a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38409baa714b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e6c712a9a64db6" /><Relationship Type="http://schemas.openxmlformats.org/officeDocument/2006/relationships/notesMaster" Target="/ppt/notesMasters/notesMaster1.xml" Id="Rbd29929639e345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29bef7cbea425a" /><Relationship Type="http://schemas.openxmlformats.org/officeDocument/2006/relationships/notesMaster" Target="/ppt/notesMasters/notesMaster1.xml" Id="Rbfb70c7cde3a44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7768e9b13847c5" /><Relationship Type="http://schemas.openxmlformats.org/officeDocument/2006/relationships/notesMaster" Target="/ppt/notesMasters/notesMaster1.xml" Id="R428321d794334d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94bcf7676d4066" /><Relationship Type="http://schemas.openxmlformats.org/officeDocument/2006/relationships/notesMaster" Target="/ppt/notesMasters/notesMaster1.xml" Id="R33cab4dbc8394d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274a47038245d1" /><Relationship Type="http://schemas.openxmlformats.org/officeDocument/2006/relationships/notesMaster" Target="/ppt/notesMasters/notesMaster1.xml" Id="R819703e0af864d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60 seconds. State the question and define a negative answer. We care about whether commonly discussed external indicators add useful information for the next monthly food inflation observation. We propose a forecasting comparison, without a causal interpretation. The target is the monthly percentage change of the Turkish food and non-alcoholic beverages CPI, EVDS series TP_TUKFIY2025_01. Forecast models and evaluation have not run. Names and team name are editable placeholders that the team will fill later.</a:t>
            </a:r>
          </a:p>
          <a:p xmlns:a="http://schemas.openxmlformats.org/drawingml/2006/main">
            <a:r>
              <a:t/>
            </a:r>
          </a:p>
          <a:p xmlns:a="http://schemas.openxmlformats.org/drawingml/2006/main">
            <a:r>
              <a:t>TurkStat CPI, obtained via TCMB EVDS: https://veriportali.tuik.gov.tr/tr/press/58289 and https://evds3.tcmb.gov.tr/ . EVDS terms: https://evds3.tcmb.gov.tr/igmevdsms-dis/documents/showDocument?docId=18 . FAO Food Price Index: https://www.fao.org/worldfoodsituation/foodpricesindex/en/ . FAO dataset terms: https://www.fao.org/contact-us/terms/db-terms-of-use/en/ . Accessed 14 October 2026. The English labels in this presentation are our simplified translations and are not official TCMB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60 seconds. These are the actual raw CSV dimensions, including date fields and UNIXTIME metadata where present. CPI contains five analytic index columns. The FX file contains one analytic rate column with 5,473 nonmissing published rates among 7,943 calendar rows. FAO contains six analytic index columns. There are 261 common complete monthly levels, January 2005 through September 2026, and 260 common monthly changes after differencing. One analysis row will represent a forecast target month plus indicators available before the forecast cutoff. The descriptive alignment is not yet a forecast-ready dataset. Preserve TCMB provider dates while documenting availability. We may explore cereal, meat, dairy/eggs, and oils/fats groups against FAO cereal, meat, dairy, and vegetable oil indices. Their baskets differ in coverage and weights.</a:t>
            </a:r>
          </a:p>
          <a:p xmlns:a="http://schemas.openxmlformats.org/drawingml/2006/main">
            <a:r>
              <a:t/>
            </a:r>
          </a:p>
          <a:p xmlns:a="http://schemas.openxmlformats.org/drawingml/2006/main">
            <a:r>
              <a:t>TurkStat CPI, obtained via TCMB EVDS: https://veriportali.tuik.gov.tr/tr/press/58289 and https://evds3.tcmb.gov.tr/ . EVDS terms: https://evds3.tcmb.gov.tr/igmevdsms-dis/documents/showDocument?docId=18 . FAO Food Price Index: https://www.fao.org/worldfoodsituation/foodpricesindex/en/ . FAO dataset terms: https://www.fao.org/contact-us/terms/db-terms-of-use/en/ . Accessed 14 October 2026. The English labels in this presentation are our simplified translations and are not official TCMB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60 seconds. The line shows all 260 monthly percentage changes from our loaded Turkish food CPI. We calculate each change from the downloaded CPI index levels as CPI this month divided by CPI last month, minus one. Those index levels may be rounded. These computed changes are not separately published official monthly inflation rates. The median is 1.365330848%, rounded to 1.37%. December 2021 is the maximum, 15.983363042%, rounded to 15.98%. There are 189 positive months, 62 negative months, and 9 unchanged months. The figure shows variation in the forecast target. It does not test predictive usefulness or establish a causal effect. Index rebasing does not turn an index level into an inflation rate. We compute changes within this consistently loaded series. Source file data/raw/turkish_food_cpi.csv, overall food series TP_TUKFIY2025_01.</a:t>
            </a:r>
          </a:p>
          <a:p xmlns:a="http://schemas.openxmlformats.org/drawingml/2006/main">
            <a:r>
              <a:t/>
            </a:r>
          </a:p>
          <a:p xmlns:a="http://schemas.openxmlformats.org/drawingml/2006/main">
            <a:r>
              <a:t>TurkStat CPI, obtained via TCMB EVDS: https://veriportali.tuik.gov.tr/tr/press/58289 and https://evds3.tcmb.gov.tr/ . EVDS terms: https://evds3.tcmb.gov.tr/igmevdsms-dis/documents/showDocument?docId=18 . FAO Food Price Index: https://www.fao.org/worldfoodsituation/foodpricesindex/en/ . FAO dataset terms: https://www.fao.org/contact-us/terms/db-terms-of-use/en/ . Accessed 14 October 2026. The English labels in this presentation are our simplified translations and are not official TCMB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first 20 seconds. The largest risk is forecast leakage. Monthly labels alone do not tell us when a value became available. A random split can also let future periods influence the model.</a:t>
            </a:r>
          </a:p>
          <a:p xmlns:a="http://schemas.openxmlformats.org/drawingml/2006/main">
            <a:r>
              <a:t>Member 3, next 70 seconds. We will write down a forecast cutoff, respect release delays, and use earlier available inputs. TCMB historical rate provider dates require care, so we will preserve the provider dates and document the timing rule rather than silently relabel rates. We propose an inflation-history baseline and a regression that adds lagged exchange-rate and FAO changes. We plan to compare mean absolute forecast error in percentage points on later months. We have not selected lags, fixed split dates, or run a model. Expanding-window validation fits the question because each training window precedes its test period. We may check seasonality as the beyond-course idea. FAO and Turkish CPI baskets differ, so a component comparison would need its own caveat. A lower forecast error would support usefulness for prediction and would not prove causation.</a:t>
            </a:r>
          </a:p>
          <a:p xmlns:a="http://schemas.openxmlformats.org/drawingml/2006/main">
            <a:r>
              <a:t/>
            </a:r>
          </a:p>
          <a:p xmlns:a="http://schemas.openxmlformats.org/drawingml/2006/main">
            <a:r>
              <a:t>TurkStat CPI, obtained via TCMB EVDS: https://veriportali.tuik.gov.tr/tr/press/58289 and https://evds3.tcmb.gov.tr/ . EVDS terms: https://evds3.tcmb.gov.tr/igmevdsms-dis/documents/showDocument?docId=18 . FAO Food Price Index: https://www.fao.org/worldfoodsituation/foodpricesindex/en/ . FAO dataset terms: https://www.fao.org/contact-us/terms/db-terms-of-use/en/ . Accessed 14 October 2026. The English labels in this presentation are our simplified translations and are not official TCMB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30 seconds. These dates and assignments are our proposed plan. Member 1 owns data preparation, Member 2 owns exploration, and Member 3 owns evaluation. Everyone reviews each stage and must be able to explain every part during the five-minute Q&amp;A. By 23 November we plan to have a reproducible dataset, baseline comparison, and a clear account of forecast timing and limitations. We will record any change in the question and why it changed. Keep the AI-use log required by the course. Total planned presentation time is five minutes. Member 1 presents slides 1 and 2, Member 2 presents slide 3 and the opening of slide 4, and Member 3 completes slide 4 and presents slide 5.</a:t>
            </a:r>
          </a:p>
          <a:p xmlns:a="http://schemas.openxmlformats.org/drawingml/2006/main">
            <a:r>
              <a:t/>
            </a:r>
          </a:p>
          <a:p xmlns:a="http://schemas.openxmlformats.org/drawingml/2006/main">
            <a:r>
              <a:t>Course brief: handout/DSA101_Project_Proposal_Brief_2026Fall.pdf. The one-page proposal PDF due 18 October is a separate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31efaf7a6e49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71d686955c43d5" /><Relationship Type="http://schemas.openxmlformats.org/officeDocument/2006/relationships/slideLayout" Target="/ppt/slideLayouts/slideLayout1.xml" Id="R9efaa6117f544f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faa6117f544f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60d4eb6744452f" /><Relationship Type="http://schemas.openxmlformats.org/officeDocument/2006/relationships/notesSlide" Target="/ppt/notesSlides/notesSlide1.xml" Id="Rff46cff2608b4a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8494b8ce8844a5" /><Relationship Type="http://schemas.openxmlformats.org/officeDocument/2006/relationships/notesSlide" Target="/ppt/notesSlides/notesSlide2.xml" Id="Rdd11cbaacf9047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cb28b7208c4f37" /><Relationship Type="http://schemas.openxmlformats.org/officeDocument/2006/relationships/chart" Target="/ppt/slides/charts/chart1.xml" Id="R9838ee638c2f4ace" /><Relationship Type="http://schemas.openxmlformats.org/officeDocument/2006/relationships/notesSlide" Target="/ppt/notesSlides/notesSlide3.xml" Id="R980a77c0de8b45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8fd60c1d54465d" /><Relationship Type="http://schemas.openxmlformats.org/officeDocument/2006/relationships/notesSlide" Target="/ppt/notesSlides/notesSlide4.xml" Id="Rbd6c1a518a8c4f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f1324c484f48d1" /><Relationship Type="http://schemas.openxmlformats.org/officeDocument/2006/relationships/notesSlide" Target="/ppt/notesSlides/notesSlide5.xml" Id="R336bb692d69f4d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Monthly food inflation</c:v>
          </c:tx>
          <c:spPr>
            <a:ln xmlns:a="http://schemas.openxmlformats.org/drawingml/2006/main" w="23813">
              <a:solidFill>
                <a:srgbClr val="9D3B33"/>
              </a:solidFill>
            </a:ln>
          </c:spPr>
          <c:marker>
            <c:symbol val="none"/>
          </c:marker>
          <c:xVal>
            <c:numRef>
              <c:f>'Chart Data'!$A$2:$A$261</c:f>
              <c:numCache>
                <c:formatCode>General</c:formatCode>
                <c:ptCount val="260"/>
                <c:pt idx="0">
                  <c:v>38384</c:v>
                </c:pt>
                <c:pt idx="1">
                  <c:v>38412</c:v>
                </c:pt>
                <c:pt idx="2">
                  <c:v>38443</c:v>
                </c:pt>
                <c:pt idx="3">
                  <c:v>38473</c:v>
                </c:pt>
                <c:pt idx="4">
                  <c:v>38504</c:v>
                </c:pt>
                <c:pt idx="5">
                  <c:v>38534</c:v>
                </c:pt>
                <c:pt idx="6">
                  <c:v>38565</c:v>
                </c:pt>
                <c:pt idx="7">
                  <c:v>38596</c:v>
                </c:pt>
                <c:pt idx="8">
                  <c:v>38626</c:v>
                </c:pt>
                <c:pt idx="9">
                  <c:v>38657</c:v>
                </c:pt>
                <c:pt idx="10">
                  <c:v>38687</c:v>
                </c:pt>
                <c:pt idx="11">
                  <c:v>38718</c:v>
                </c:pt>
                <c:pt idx="12">
                  <c:v>38749</c:v>
                </c:pt>
                <c:pt idx="13">
                  <c:v>38777</c:v>
                </c:pt>
                <c:pt idx="14">
                  <c:v>38808</c:v>
                </c:pt>
                <c:pt idx="15">
                  <c:v>38838</c:v>
                </c:pt>
                <c:pt idx="16">
                  <c:v>38869</c:v>
                </c:pt>
                <c:pt idx="17">
                  <c:v>38899</c:v>
                </c:pt>
                <c:pt idx="18">
                  <c:v>38930</c:v>
                </c:pt>
                <c:pt idx="19">
                  <c:v>38961</c:v>
                </c:pt>
                <c:pt idx="20">
                  <c:v>38991</c:v>
                </c:pt>
                <c:pt idx="21">
                  <c:v>39022</c:v>
                </c:pt>
                <c:pt idx="22">
                  <c:v>39052</c:v>
                </c:pt>
                <c:pt idx="23">
                  <c:v>39083</c:v>
                </c:pt>
                <c:pt idx="24">
                  <c:v>39114</c:v>
                </c:pt>
                <c:pt idx="25">
                  <c:v>39142</c:v>
                </c:pt>
                <c:pt idx="26">
                  <c:v>39173</c:v>
                </c:pt>
                <c:pt idx="27">
                  <c:v>39203</c:v>
                </c:pt>
                <c:pt idx="28">
                  <c:v>39234</c:v>
                </c:pt>
                <c:pt idx="29">
                  <c:v>39264</c:v>
                </c:pt>
                <c:pt idx="30">
                  <c:v>39295</c:v>
                </c:pt>
                <c:pt idx="31">
                  <c:v>39326</c:v>
                </c:pt>
                <c:pt idx="32">
                  <c:v>39356</c:v>
                </c:pt>
                <c:pt idx="33">
                  <c:v>39387</c:v>
                </c:pt>
                <c:pt idx="34">
                  <c:v>39417</c:v>
                </c:pt>
                <c:pt idx="35">
                  <c:v>39448</c:v>
                </c:pt>
                <c:pt idx="36">
                  <c:v>39479</c:v>
                </c:pt>
                <c:pt idx="37">
                  <c:v>39508</c:v>
                </c:pt>
                <c:pt idx="38">
                  <c:v>39539</c:v>
                </c:pt>
                <c:pt idx="39">
                  <c:v>39569</c:v>
                </c:pt>
                <c:pt idx="40">
                  <c:v>39600</c:v>
                </c:pt>
                <c:pt idx="41">
                  <c:v>39630</c:v>
                </c:pt>
                <c:pt idx="42">
                  <c:v>39661</c:v>
                </c:pt>
                <c:pt idx="43">
                  <c:v>39692</c:v>
                </c:pt>
                <c:pt idx="44">
                  <c:v>39722</c:v>
                </c:pt>
                <c:pt idx="45">
                  <c:v>39753</c:v>
                </c:pt>
                <c:pt idx="46">
                  <c:v>39783</c:v>
                </c:pt>
                <c:pt idx="47">
                  <c:v>39814</c:v>
                </c:pt>
                <c:pt idx="48">
                  <c:v>39845</c:v>
                </c:pt>
                <c:pt idx="49">
                  <c:v>39873</c:v>
                </c:pt>
                <c:pt idx="50">
                  <c:v>39904</c:v>
                </c:pt>
                <c:pt idx="51">
                  <c:v>39934</c:v>
                </c:pt>
                <c:pt idx="52">
                  <c:v>39965</c:v>
                </c:pt>
                <c:pt idx="53">
                  <c:v>39995</c:v>
                </c:pt>
                <c:pt idx="54">
                  <c:v>40026</c:v>
                </c:pt>
                <c:pt idx="55">
                  <c:v>40057</c:v>
                </c:pt>
                <c:pt idx="56">
                  <c:v>40087</c:v>
                </c:pt>
                <c:pt idx="57">
                  <c:v>40118</c:v>
                </c:pt>
                <c:pt idx="58">
                  <c:v>40148</c:v>
                </c:pt>
                <c:pt idx="59">
                  <c:v>40179</c:v>
                </c:pt>
                <c:pt idx="60">
                  <c:v>40210</c:v>
                </c:pt>
                <c:pt idx="61">
                  <c:v>40238</c:v>
                </c:pt>
                <c:pt idx="62">
                  <c:v>40269</c:v>
                </c:pt>
                <c:pt idx="63">
                  <c:v>40299</c:v>
                </c:pt>
                <c:pt idx="64">
                  <c:v>40330</c:v>
                </c:pt>
                <c:pt idx="65">
                  <c:v>40360</c:v>
                </c:pt>
                <c:pt idx="66">
                  <c:v>40391</c:v>
                </c:pt>
                <c:pt idx="67">
                  <c:v>40422</c:v>
                </c:pt>
                <c:pt idx="68">
                  <c:v>40452</c:v>
                </c:pt>
                <c:pt idx="69">
                  <c:v>40483</c:v>
                </c:pt>
                <c:pt idx="70">
                  <c:v>40513</c:v>
                </c:pt>
                <c:pt idx="71">
                  <c:v>40544</c:v>
                </c:pt>
                <c:pt idx="72">
                  <c:v>40575</c:v>
                </c:pt>
                <c:pt idx="73">
                  <c:v>40603</c:v>
                </c:pt>
                <c:pt idx="74">
                  <c:v>40634</c:v>
                </c:pt>
                <c:pt idx="75">
                  <c:v>40664</c:v>
                </c:pt>
                <c:pt idx="76">
                  <c:v>40695</c:v>
                </c:pt>
                <c:pt idx="77">
                  <c:v>40725</c:v>
                </c:pt>
                <c:pt idx="78">
                  <c:v>40756</c:v>
                </c:pt>
                <c:pt idx="79">
                  <c:v>40787</c:v>
                </c:pt>
                <c:pt idx="80">
                  <c:v>40817</c:v>
                </c:pt>
                <c:pt idx="81">
                  <c:v>40848</c:v>
                </c:pt>
                <c:pt idx="82">
                  <c:v>40878</c:v>
                </c:pt>
                <c:pt idx="83">
                  <c:v>40909</c:v>
                </c:pt>
                <c:pt idx="84">
                  <c:v>40940</c:v>
                </c:pt>
                <c:pt idx="85">
                  <c:v>40969</c:v>
                </c:pt>
                <c:pt idx="86">
                  <c:v>41000</c:v>
                </c:pt>
                <c:pt idx="87">
                  <c:v>41030</c:v>
                </c:pt>
                <c:pt idx="88">
                  <c:v>41061</c:v>
                </c:pt>
                <c:pt idx="89">
                  <c:v>41091</c:v>
                </c:pt>
                <c:pt idx="90">
                  <c:v>41122</c:v>
                </c:pt>
                <c:pt idx="91">
                  <c:v>41153</c:v>
                </c:pt>
                <c:pt idx="92">
                  <c:v>41183</c:v>
                </c:pt>
                <c:pt idx="93">
                  <c:v>41214</c:v>
                </c:pt>
                <c:pt idx="94">
                  <c:v>41244</c:v>
                </c:pt>
                <c:pt idx="95">
                  <c:v>41275</c:v>
                </c:pt>
                <c:pt idx="96">
                  <c:v>41306</c:v>
                </c:pt>
                <c:pt idx="97">
                  <c:v>41334</c:v>
                </c:pt>
                <c:pt idx="98">
                  <c:v>41365</c:v>
                </c:pt>
                <c:pt idx="99">
                  <c:v>41395</c:v>
                </c:pt>
                <c:pt idx="100">
                  <c:v>41426</c:v>
                </c:pt>
                <c:pt idx="101">
                  <c:v>41456</c:v>
                </c:pt>
                <c:pt idx="102">
                  <c:v>41487</c:v>
                </c:pt>
                <c:pt idx="103">
                  <c:v>41518</c:v>
                </c:pt>
                <c:pt idx="104">
                  <c:v>41548</c:v>
                </c:pt>
                <c:pt idx="105">
                  <c:v>41579</c:v>
                </c:pt>
                <c:pt idx="106">
                  <c:v>41609</c:v>
                </c:pt>
                <c:pt idx="107">
                  <c:v>41640</c:v>
                </c:pt>
                <c:pt idx="108">
                  <c:v>41671</c:v>
                </c:pt>
                <c:pt idx="109">
                  <c:v>41699</c:v>
                </c:pt>
                <c:pt idx="110">
                  <c:v>41730</c:v>
                </c:pt>
                <c:pt idx="111">
                  <c:v>41760</c:v>
                </c:pt>
                <c:pt idx="112">
                  <c:v>41791</c:v>
                </c:pt>
                <c:pt idx="113">
                  <c:v>41821</c:v>
                </c:pt>
                <c:pt idx="114">
                  <c:v>41852</c:v>
                </c:pt>
                <c:pt idx="115">
                  <c:v>41883</c:v>
                </c:pt>
                <c:pt idx="116">
                  <c:v>41913</c:v>
                </c:pt>
                <c:pt idx="117">
                  <c:v>41944</c:v>
                </c:pt>
                <c:pt idx="118">
                  <c:v>41974</c:v>
                </c:pt>
                <c:pt idx="119">
                  <c:v>42005</c:v>
                </c:pt>
                <c:pt idx="120">
                  <c:v>42036</c:v>
                </c:pt>
                <c:pt idx="121">
                  <c:v>42064</c:v>
                </c:pt>
                <c:pt idx="122">
                  <c:v>42095</c:v>
                </c:pt>
                <c:pt idx="123">
                  <c:v>42125</c:v>
                </c:pt>
                <c:pt idx="124">
                  <c:v>42156</c:v>
                </c:pt>
                <c:pt idx="125">
                  <c:v>42186</c:v>
                </c:pt>
                <c:pt idx="126">
                  <c:v>42217</c:v>
                </c:pt>
                <c:pt idx="127">
                  <c:v>42248</c:v>
                </c:pt>
                <c:pt idx="128">
                  <c:v>42278</c:v>
                </c:pt>
                <c:pt idx="129">
                  <c:v>42309</c:v>
                </c:pt>
                <c:pt idx="130">
                  <c:v>42339</c:v>
                </c:pt>
                <c:pt idx="131">
                  <c:v>42370</c:v>
                </c:pt>
                <c:pt idx="132">
                  <c:v>42401</c:v>
                </c:pt>
                <c:pt idx="133">
                  <c:v>42430</c:v>
                </c:pt>
                <c:pt idx="134">
                  <c:v>42461</c:v>
                </c:pt>
                <c:pt idx="135">
                  <c:v>42491</c:v>
                </c:pt>
                <c:pt idx="136">
                  <c:v>42522</c:v>
                </c:pt>
                <c:pt idx="137">
                  <c:v>42552</c:v>
                </c:pt>
                <c:pt idx="138">
                  <c:v>42583</c:v>
                </c:pt>
                <c:pt idx="139">
                  <c:v>42614</c:v>
                </c:pt>
                <c:pt idx="140">
                  <c:v>42644</c:v>
                </c:pt>
                <c:pt idx="141">
                  <c:v>42675</c:v>
                </c:pt>
                <c:pt idx="142">
                  <c:v>42705</c:v>
                </c:pt>
                <c:pt idx="143">
                  <c:v>42736</c:v>
                </c:pt>
                <c:pt idx="144">
                  <c:v>42767</c:v>
                </c:pt>
                <c:pt idx="145">
                  <c:v>42795</c:v>
                </c:pt>
                <c:pt idx="146">
                  <c:v>42826</c:v>
                </c:pt>
                <c:pt idx="147">
                  <c:v>42856</c:v>
                </c:pt>
                <c:pt idx="148">
                  <c:v>42887</c:v>
                </c:pt>
                <c:pt idx="149">
                  <c:v>42917</c:v>
                </c:pt>
                <c:pt idx="150">
                  <c:v>42948</c:v>
                </c:pt>
                <c:pt idx="151">
                  <c:v>42979</c:v>
                </c:pt>
                <c:pt idx="152">
                  <c:v>43009</c:v>
                </c:pt>
                <c:pt idx="153">
                  <c:v>43040</c:v>
                </c:pt>
                <c:pt idx="154">
                  <c:v>43070</c:v>
                </c:pt>
                <c:pt idx="155">
                  <c:v>43101</c:v>
                </c:pt>
                <c:pt idx="156">
                  <c:v>43132</c:v>
                </c:pt>
                <c:pt idx="157">
                  <c:v>43160</c:v>
                </c:pt>
                <c:pt idx="158">
                  <c:v>43191</c:v>
                </c:pt>
                <c:pt idx="159">
                  <c:v>43221</c:v>
                </c:pt>
                <c:pt idx="160">
                  <c:v>43252</c:v>
                </c:pt>
                <c:pt idx="161">
                  <c:v>43282</c:v>
                </c:pt>
                <c:pt idx="162">
                  <c:v>43313</c:v>
                </c:pt>
                <c:pt idx="163">
                  <c:v>43344</c:v>
                </c:pt>
                <c:pt idx="164">
                  <c:v>43374</c:v>
                </c:pt>
                <c:pt idx="165">
                  <c:v>43405</c:v>
                </c:pt>
                <c:pt idx="166">
                  <c:v>43435</c:v>
                </c:pt>
                <c:pt idx="167">
                  <c:v>43466</c:v>
                </c:pt>
                <c:pt idx="168">
                  <c:v>43497</c:v>
                </c:pt>
                <c:pt idx="169">
                  <c:v>43525</c:v>
                </c:pt>
                <c:pt idx="170">
                  <c:v>43556</c:v>
                </c:pt>
                <c:pt idx="171">
                  <c:v>43586</c:v>
                </c:pt>
                <c:pt idx="172">
                  <c:v>43617</c:v>
                </c:pt>
                <c:pt idx="173">
                  <c:v>43647</c:v>
                </c:pt>
                <c:pt idx="174">
                  <c:v>43678</c:v>
                </c:pt>
                <c:pt idx="175">
                  <c:v>43709</c:v>
                </c:pt>
                <c:pt idx="176">
                  <c:v>43739</c:v>
                </c:pt>
                <c:pt idx="177">
                  <c:v>43770</c:v>
                </c:pt>
                <c:pt idx="178">
                  <c:v>43800</c:v>
                </c:pt>
                <c:pt idx="179">
                  <c:v>43831</c:v>
                </c:pt>
                <c:pt idx="180">
                  <c:v>43862</c:v>
                </c:pt>
                <c:pt idx="181">
                  <c:v>43891</c:v>
                </c:pt>
                <c:pt idx="182">
                  <c:v>43922</c:v>
                </c:pt>
                <c:pt idx="183">
                  <c:v>43952</c:v>
                </c:pt>
                <c:pt idx="184">
                  <c:v>43983</c:v>
                </c:pt>
                <c:pt idx="185">
                  <c:v>44013</c:v>
                </c:pt>
                <c:pt idx="186">
                  <c:v>44044</c:v>
                </c:pt>
                <c:pt idx="187">
                  <c:v>44075</c:v>
                </c:pt>
                <c:pt idx="188">
                  <c:v>44105</c:v>
                </c:pt>
                <c:pt idx="189">
                  <c:v>44136</c:v>
                </c:pt>
                <c:pt idx="190">
                  <c:v>44166</c:v>
                </c:pt>
                <c:pt idx="191">
                  <c:v>44197</c:v>
                </c:pt>
                <c:pt idx="192">
                  <c:v>44228</c:v>
                </c:pt>
                <c:pt idx="193">
                  <c:v>44256</c:v>
                </c:pt>
                <c:pt idx="194">
                  <c:v>44287</c:v>
                </c:pt>
                <c:pt idx="195">
                  <c:v>44317</c:v>
                </c:pt>
                <c:pt idx="196">
                  <c:v>44348</c:v>
                </c:pt>
                <c:pt idx="197">
                  <c:v>44378</c:v>
                </c:pt>
                <c:pt idx="198">
                  <c:v>44409</c:v>
                </c:pt>
                <c:pt idx="199">
                  <c:v>44440</c:v>
                </c:pt>
                <c:pt idx="200">
                  <c:v>44470</c:v>
                </c:pt>
                <c:pt idx="201">
                  <c:v>44501</c:v>
                </c:pt>
                <c:pt idx="202">
                  <c:v>44531</c:v>
                </c:pt>
                <c:pt idx="203">
                  <c:v>44562</c:v>
                </c:pt>
                <c:pt idx="204">
                  <c:v>44593</c:v>
                </c:pt>
                <c:pt idx="205">
                  <c:v>44621</c:v>
                </c:pt>
                <c:pt idx="206">
                  <c:v>44652</c:v>
                </c:pt>
                <c:pt idx="207">
                  <c:v>44682</c:v>
                </c:pt>
                <c:pt idx="208">
                  <c:v>44713</c:v>
                </c:pt>
                <c:pt idx="209">
                  <c:v>44743</c:v>
                </c:pt>
                <c:pt idx="210">
                  <c:v>44774</c:v>
                </c:pt>
                <c:pt idx="211">
                  <c:v>44805</c:v>
                </c:pt>
                <c:pt idx="212">
                  <c:v>44835</c:v>
                </c:pt>
                <c:pt idx="213">
                  <c:v>44866</c:v>
                </c:pt>
                <c:pt idx="214">
                  <c:v>44896</c:v>
                </c:pt>
                <c:pt idx="215">
                  <c:v>44927</c:v>
                </c:pt>
                <c:pt idx="216">
                  <c:v>44958</c:v>
                </c:pt>
                <c:pt idx="217">
                  <c:v>44986</c:v>
                </c:pt>
                <c:pt idx="218">
                  <c:v>45017</c:v>
                </c:pt>
                <c:pt idx="219">
                  <c:v>45047</c:v>
                </c:pt>
                <c:pt idx="220">
                  <c:v>45078</c:v>
                </c:pt>
                <c:pt idx="221">
                  <c:v>45108</c:v>
                </c:pt>
                <c:pt idx="222">
                  <c:v>45139</c:v>
                </c:pt>
                <c:pt idx="223">
                  <c:v>45170</c:v>
                </c:pt>
                <c:pt idx="224">
                  <c:v>45200</c:v>
                </c:pt>
                <c:pt idx="225">
                  <c:v>45231</c:v>
                </c:pt>
                <c:pt idx="226">
                  <c:v>45261</c:v>
                </c:pt>
                <c:pt idx="227">
                  <c:v>45292</c:v>
                </c:pt>
                <c:pt idx="228">
                  <c:v>45323</c:v>
                </c:pt>
                <c:pt idx="229">
                  <c:v>45352</c:v>
                </c:pt>
                <c:pt idx="230">
                  <c:v>45383</c:v>
                </c:pt>
                <c:pt idx="231">
                  <c:v>45413</c:v>
                </c:pt>
                <c:pt idx="232">
                  <c:v>45444</c:v>
                </c:pt>
                <c:pt idx="233">
                  <c:v>45474</c:v>
                </c:pt>
                <c:pt idx="234">
                  <c:v>45505</c:v>
                </c:pt>
                <c:pt idx="235">
                  <c:v>45536</c:v>
                </c:pt>
                <c:pt idx="236">
                  <c:v>45566</c:v>
                </c:pt>
                <c:pt idx="237">
                  <c:v>45597</c:v>
                </c:pt>
                <c:pt idx="238">
                  <c:v>45627</c:v>
                </c:pt>
                <c:pt idx="239">
                  <c:v>45658</c:v>
                </c:pt>
                <c:pt idx="240">
                  <c:v>45689</c:v>
                </c:pt>
                <c:pt idx="241">
                  <c:v>45717</c:v>
                </c:pt>
                <c:pt idx="242">
                  <c:v>45748</c:v>
                </c:pt>
                <c:pt idx="243">
                  <c:v>45778</c:v>
                </c:pt>
                <c:pt idx="244">
                  <c:v>45809</c:v>
                </c:pt>
                <c:pt idx="245">
                  <c:v>45839</c:v>
                </c:pt>
                <c:pt idx="246">
                  <c:v>45870</c:v>
                </c:pt>
                <c:pt idx="247">
                  <c:v>45901</c:v>
                </c:pt>
                <c:pt idx="248">
                  <c:v>45931</c:v>
                </c:pt>
                <c:pt idx="249">
                  <c:v>45962</c:v>
                </c:pt>
                <c:pt idx="250">
                  <c:v>45992</c:v>
                </c:pt>
                <c:pt idx="251">
                  <c:v>46023</c:v>
                </c:pt>
                <c:pt idx="252">
                  <c:v>46054</c:v>
                </c:pt>
                <c:pt idx="253">
                  <c:v>46082</c:v>
                </c:pt>
                <c:pt idx="254">
                  <c:v>46113</c:v>
                </c:pt>
                <c:pt idx="255">
                  <c:v>46143</c:v>
                </c:pt>
                <c:pt idx="256">
                  <c:v>46174</c:v>
                </c:pt>
                <c:pt idx="257">
                  <c:v>46204</c:v>
                </c:pt>
                <c:pt idx="258">
                  <c:v>46235</c:v>
                </c:pt>
                <c:pt idx="259">
                  <c:v>46266</c:v>
                </c:pt>
              </c:numCache>
            </c:numRef>
          </c:xVal>
          <c:yVal>
            <c:numRef>
              <c:f>'Chart Data'!$B$2:$B$261</c:f>
              <c:numCache>
                <c:formatCode>0.0%</c:formatCode>
                <c:ptCount val="260"/>
                <c:pt idx="0">
                  <c:v>0.008</c:v>
                </c:pt>
                <c:pt idx="1">
                  <c:v>0</c:v>
                </c:pt>
                <c:pt idx="2">
                  <c:v>-0.0079365079</c:v>
                </c:pt>
                <c:pt idx="3">
                  <c:v>0</c:v>
                </c:pt>
                <c:pt idx="4">
                  <c:v>-0.016</c:v>
                </c:pt>
                <c:pt idx="5">
                  <c:v>-0.012195122</c:v>
                </c:pt>
                <c:pt idx="6">
                  <c:v>0</c:v>
                </c:pt>
                <c:pt idx="7">
                  <c:v>0.012345679</c:v>
                </c:pt>
                <c:pt idx="8">
                  <c:v>0.0243902439</c:v>
                </c:pt>
                <c:pt idx="9">
                  <c:v>0.0317460317</c:v>
                </c:pt>
                <c:pt idx="10">
                  <c:v>-0.0038461538</c:v>
                </c:pt>
                <c:pt idx="11">
                  <c:v>0.0115830116</c:v>
                </c:pt>
                <c:pt idx="12">
                  <c:v>0.0267175573</c:v>
                </c:pt>
                <c:pt idx="13">
                  <c:v>0.0111524164</c:v>
                </c:pt>
                <c:pt idx="14">
                  <c:v>0.0073529412</c:v>
                </c:pt>
                <c:pt idx="15">
                  <c:v>0.0072992701</c:v>
                </c:pt>
                <c:pt idx="16">
                  <c:v>-0.0289855072</c:v>
                </c:pt>
                <c:pt idx="17">
                  <c:v>0.0149253731</c:v>
                </c:pt>
                <c:pt idx="18">
                  <c:v>-0.0110294118</c:v>
                </c:pt>
                <c:pt idx="19">
                  <c:v>0.029739777</c:v>
                </c:pt>
                <c:pt idx="20">
                  <c:v>0.0072202166</c:v>
                </c:pt>
                <c:pt idx="21">
                  <c:v>0.0250896057</c:v>
                </c:pt>
                <c:pt idx="22">
                  <c:v>0.006993007</c:v>
                </c:pt>
                <c:pt idx="23">
                  <c:v>0.0451388889</c:v>
                </c:pt>
                <c:pt idx="24">
                  <c:v>0.0166112957</c:v>
                </c:pt>
                <c:pt idx="25">
                  <c:v>0.0065359477</c:v>
                </c:pt>
                <c:pt idx="26">
                  <c:v>0.0064935065</c:v>
                </c:pt>
                <c:pt idx="27">
                  <c:v>-0.0161290323</c:v>
                </c:pt>
                <c:pt idx="28">
                  <c:v>-0.0196721311</c:v>
                </c:pt>
                <c:pt idx="29">
                  <c:v>-0.0066889632</c:v>
                </c:pt>
                <c:pt idx="30">
                  <c:v>0.0168350168</c:v>
                </c:pt>
                <c:pt idx="31">
                  <c:v>0.0231788079</c:v>
                </c:pt>
                <c:pt idx="32">
                  <c:v>0.0355987055</c:v>
                </c:pt>
                <c:pt idx="33">
                  <c:v>0.00625</c:v>
                </c:pt>
                <c:pt idx="34">
                  <c:v>0.0031055901</c:v>
                </c:pt>
                <c:pt idx="35">
                  <c:v>0.0185758514</c:v>
                </c:pt>
                <c:pt idx="36">
                  <c:v>0.0486322188</c:v>
                </c:pt>
                <c:pt idx="37">
                  <c:v>0.0115942029</c:v>
                </c:pt>
                <c:pt idx="38">
                  <c:v>0.0085959885</c:v>
                </c:pt>
                <c:pt idx="39">
                  <c:v>0.0028409091</c:v>
                </c:pt>
                <c:pt idx="40">
                  <c:v>-0.0339943343</c:v>
                </c:pt>
                <c:pt idx="41">
                  <c:v>0.0058651026</c:v>
                </c:pt>
                <c:pt idx="42">
                  <c:v>0</c:v>
                </c:pt>
                <c:pt idx="43">
                  <c:v>0</c:v>
                </c:pt>
                <c:pt idx="44">
                  <c:v>0.0408163265</c:v>
                </c:pt>
                <c:pt idx="45">
                  <c:v>0.0056022409</c:v>
                </c:pt>
                <c:pt idx="46">
                  <c:v>0.0055710306</c:v>
                </c:pt>
                <c:pt idx="47">
                  <c:v>0.0138504155</c:v>
                </c:pt>
                <c:pt idx="48">
                  <c:v>0</c:v>
                </c:pt>
                <c:pt idx="49">
                  <c:v>0.0409836066</c:v>
                </c:pt>
                <c:pt idx="50">
                  <c:v>-0.0052493438</c:v>
                </c:pt>
                <c:pt idx="51">
                  <c:v>0.0026385224</c:v>
                </c:pt>
                <c:pt idx="52">
                  <c:v>-0.0157894737</c:v>
                </c:pt>
                <c:pt idx="53">
                  <c:v>-0.0053475936</c:v>
                </c:pt>
                <c:pt idx="54">
                  <c:v>-0.0161290323</c:v>
                </c:pt>
                <c:pt idx="55">
                  <c:v>0.0027322404</c:v>
                </c:pt>
                <c:pt idx="56">
                  <c:v>0.029972752</c:v>
                </c:pt>
                <c:pt idx="57">
                  <c:v>0.0211640212</c:v>
                </c:pt>
                <c:pt idx="58">
                  <c:v>0.0233160622</c:v>
                </c:pt>
                <c:pt idx="59">
                  <c:v>0.0151898734</c:v>
                </c:pt>
                <c:pt idx="60">
                  <c:v>0.0498753117</c:v>
                </c:pt>
                <c:pt idx="61">
                  <c:v>0.0047505938</c:v>
                </c:pt>
                <c:pt idx="62">
                  <c:v>0.0023640662</c:v>
                </c:pt>
                <c:pt idx="63">
                  <c:v>-0.0448113208</c:v>
                </c:pt>
                <c:pt idx="64">
                  <c:v>-0.024691358</c:v>
                </c:pt>
                <c:pt idx="65">
                  <c:v>-0.0075949367</c:v>
                </c:pt>
                <c:pt idx="66">
                  <c:v>0.0306122449</c:v>
                </c:pt>
                <c:pt idx="67">
                  <c:v>0.047029703</c:v>
                </c:pt>
                <c:pt idx="68">
                  <c:v>0.0449172577</c:v>
                </c:pt>
                <c:pt idx="69">
                  <c:v>-0.0180995475</c:v>
                </c:pt>
                <c:pt idx="70">
                  <c:v>-0.0276497696</c:v>
                </c:pt>
                <c:pt idx="71">
                  <c:v>0.0165876777</c:v>
                </c:pt>
                <c:pt idx="72">
                  <c:v>0.0256410256</c:v>
                </c:pt>
                <c:pt idx="73">
                  <c:v>-0.0045454545</c:v>
                </c:pt>
                <c:pt idx="74">
                  <c:v>-0.00456621</c:v>
                </c:pt>
                <c:pt idx="75">
                  <c:v>0.0481651376</c:v>
                </c:pt>
                <c:pt idx="76">
                  <c:v>-0.0656455142</c:v>
                </c:pt>
                <c:pt idx="77">
                  <c:v>-0.0117096019</c:v>
                </c:pt>
                <c:pt idx="78">
                  <c:v>0.0142180095</c:v>
                </c:pt>
                <c:pt idx="79">
                  <c:v>0.0093457944</c:v>
                </c:pt>
                <c:pt idx="80">
                  <c:v>0.0416666667</c:v>
                </c:pt>
                <c:pt idx="81">
                  <c:v>0.0333333333</c:v>
                </c:pt>
                <c:pt idx="82">
                  <c:v>0.0193548387</c:v>
                </c:pt>
                <c:pt idx="83">
                  <c:v>0.0105485232</c:v>
                </c:pt>
                <c:pt idx="84">
                  <c:v>0.0208768267</c:v>
                </c:pt>
                <c:pt idx="85">
                  <c:v>-0.0040899796</c:v>
                </c:pt>
                <c:pt idx="86">
                  <c:v>0</c:v>
                </c:pt>
                <c:pt idx="87">
                  <c:v>-0.0246406571</c:v>
                </c:pt>
                <c:pt idx="88">
                  <c:v>-0.0336842105</c:v>
                </c:pt>
                <c:pt idx="89">
                  <c:v>0.0043572985</c:v>
                </c:pt>
                <c:pt idx="90">
                  <c:v>0.0130151844</c:v>
                </c:pt>
                <c:pt idx="91">
                  <c:v>0.0214132762</c:v>
                </c:pt>
                <c:pt idx="92">
                  <c:v>0.0167714885</c:v>
                </c:pt>
                <c:pt idx="93">
                  <c:v>0</c:v>
                </c:pt>
                <c:pt idx="94">
                  <c:v>0.0144329897</c:v>
                </c:pt>
                <c:pt idx="95">
                  <c:v>0.0406504065</c:v>
                </c:pt>
                <c:pt idx="96">
                  <c:v>0.0078125</c:v>
                </c:pt>
                <c:pt idx="97">
                  <c:v>0.0213178295</c:v>
                </c:pt>
                <c:pt idx="98">
                  <c:v>-0.0132827324</c:v>
                </c:pt>
                <c:pt idx="99">
                  <c:v>-0.0211538462</c:v>
                </c:pt>
                <c:pt idx="100">
                  <c:v>0.0176817289</c:v>
                </c:pt>
                <c:pt idx="101">
                  <c:v>0.0019305019</c:v>
                </c:pt>
                <c:pt idx="102">
                  <c:v>-0.0077071291</c:v>
                </c:pt>
                <c:pt idx="103">
                  <c:v>0.0077669903</c:v>
                </c:pt>
                <c:pt idx="104">
                  <c:v>0.0385356455</c:v>
                </c:pt>
                <c:pt idx="105">
                  <c:v>-0.012987013</c:v>
                </c:pt>
                <c:pt idx="106">
                  <c:v>0.015037594</c:v>
                </c:pt>
                <c:pt idx="107">
                  <c:v>0.0518518519</c:v>
                </c:pt>
                <c:pt idx="108">
                  <c:v>0</c:v>
                </c:pt>
                <c:pt idx="109">
                  <c:v>0.0211267606</c:v>
                </c:pt>
                <c:pt idx="110">
                  <c:v>0.0137931034</c:v>
                </c:pt>
                <c:pt idx="111">
                  <c:v>-0.0119047619</c:v>
                </c:pt>
                <c:pt idx="112">
                  <c:v>0.0034423408</c:v>
                </c:pt>
                <c:pt idx="113">
                  <c:v>0.0017152659</c:v>
                </c:pt>
                <c:pt idx="114">
                  <c:v>0.0102739726</c:v>
                </c:pt>
                <c:pt idx="115">
                  <c:v>0.0016949153</c:v>
                </c:pt>
                <c:pt idx="116">
                  <c:v>0.027072758</c:v>
                </c:pt>
                <c:pt idx="117">
                  <c:v>0.0016474465</c:v>
                </c:pt>
                <c:pt idx="118">
                  <c:v>0.0016447368</c:v>
                </c:pt>
                <c:pt idx="119">
                  <c:v>0.0344827586</c:v>
                </c:pt>
                <c:pt idx="120">
                  <c:v>0.0253968254</c:v>
                </c:pt>
                <c:pt idx="121">
                  <c:v>0.0247678019</c:v>
                </c:pt>
                <c:pt idx="122">
                  <c:v>0.0166163142</c:v>
                </c:pt>
                <c:pt idx="123">
                  <c:v>-0.0267459138</c:v>
                </c:pt>
                <c:pt idx="124">
                  <c:v>-0.027480916</c:v>
                </c:pt>
                <c:pt idx="125">
                  <c:v>0.0015698587</c:v>
                </c:pt>
                <c:pt idx="126">
                  <c:v>0.0141065831</c:v>
                </c:pt>
                <c:pt idx="127">
                  <c:v>0.0123647604</c:v>
                </c:pt>
                <c:pt idx="128">
                  <c:v>0.0076335878</c:v>
                </c:pt>
                <c:pt idx="129">
                  <c:v>0.0090909091</c:v>
                </c:pt>
                <c:pt idx="130">
                  <c:v>0.0135135135</c:v>
                </c:pt>
                <c:pt idx="131">
                  <c:v>0.042962963</c:v>
                </c:pt>
                <c:pt idx="132">
                  <c:v>-0.0014204545</c:v>
                </c:pt>
                <c:pt idx="133">
                  <c:v>-0.0142247511</c:v>
                </c:pt>
                <c:pt idx="134">
                  <c:v>-0.0158730159</c:v>
                </c:pt>
                <c:pt idx="135">
                  <c:v>-0.0161290323</c:v>
                </c:pt>
                <c:pt idx="136">
                  <c:v>0.0119225037</c:v>
                </c:pt>
                <c:pt idx="137">
                  <c:v>0.0309278351</c:v>
                </c:pt>
                <c:pt idx="138">
                  <c:v>-0.0185714286</c:v>
                </c:pt>
                <c:pt idx="139">
                  <c:v>-0.0072780204</c:v>
                </c:pt>
                <c:pt idx="140">
                  <c:v>0.0175953079</c:v>
                </c:pt>
                <c:pt idx="141">
                  <c:v>-0.0057636888</c:v>
                </c:pt>
                <c:pt idx="142">
                  <c:v>0.0333333333</c:v>
                </c:pt>
                <c:pt idx="143">
                  <c:v>0.0631136045</c:v>
                </c:pt>
                <c:pt idx="144">
                  <c:v>0.0092348285</c:v>
                </c:pt>
                <c:pt idx="145">
                  <c:v>0.0183006536</c:v>
                </c:pt>
                <c:pt idx="146">
                  <c:v>0.0128369705</c:v>
                </c:pt>
                <c:pt idx="147">
                  <c:v>-0.0050697085</c:v>
                </c:pt>
                <c:pt idx="148">
                  <c:v>-0.0114649682</c:v>
                </c:pt>
                <c:pt idx="149">
                  <c:v>-0.006443299</c:v>
                </c:pt>
                <c:pt idx="150">
                  <c:v>-0.0025940337</c:v>
                </c:pt>
                <c:pt idx="151">
                  <c:v>-0.0026007802</c:v>
                </c:pt>
                <c:pt idx="152">
                  <c:v>0.0195567145</c:v>
                </c:pt>
                <c:pt idx="153">
                  <c:v>0.0217391304</c:v>
                </c:pt>
                <c:pt idx="154">
                  <c:v>0.0150187735</c:v>
                </c:pt>
                <c:pt idx="155">
                  <c:v>0.0172626387</c:v>
                </c:pt>
                <c:pt idx="156">
                  <c:v>0.0218181818</c:v>
                </c:pt>
                <c:pt idx="157">
                  <c:v>0.0201660735</c:v>
                </c:pt>
                <c:pt idx="158">
                  <c:v>-0.0023255814</c:v>
                </c:pt>
                <c:pt idx="159">
                  <c:v>0.0151515152</c:v>
                </c:pt>
                <c:pt idx="160">
                  <c:v>0.0597014925</c:v>
                </c:pt>
                <c:pt idx="161">
                  <c:v>-0.0032502709</c:v>
                </c:pt>
                <c:pt idx="162">
                  <c:v>0.0010869565</c:v>
                </c:pt>
                <c:pt idx="163">
                  <c:v>0.0640608035</c:v>
                </c:pt>
                <c:pt idx="164">
                  <c:v>0.0316326531</c:v>
                </c:pt>
                <c:pt idx="165">
                  <c:v>-0.0069238378</c:v>
                </c:pt>
                <c:pt idx="166">
                  <c:v>0.0109561753</c:v>
                </c:pt>
                <c:pt idx="167">
                  <c:v>0.0640394089</c:v>
                </c:pt>
                <c:pt idx="168">
                  <c:v>0.0092592593</c:v>
                </c:pt>
                <c:pt idx="169">
                  <c:v>0.023853211</c:v>
                </c:pt>
                <c:pt idx="170">
                  <c:v>0.0143369176</c:v>
                </c:pt>
                <c:pt idx="171">
                  <c:v>-0.0114840989</c:v>
                </c:pt>
                <c:pt idx="172">
                  <c:v>-0.0169794459</c:v>
                </c:pt>
                <c:pt idx="173">
                  <c:v>-0.0109090909</c:v>
                </c:pt>
                <c:pt idx="174">
                  <c:v>-0.0073529412</c:v>
                </c:pt>
                <c:pt idx="175">
                  <c:v>-0.0064814815</c:v>
                </c:pt>
                <c:pt idx="176">
                  <c:v>0.0167753961</c:v>
                </c:pt>
                <c:pt idx="177">
                  <c:v>0.0018331806</c:v>
                </c:pt>
                <c:pt idx="178">
                  <c:v>0.0292772187</c:v>
                </c:pt>
                <c:pt idx="179">
                  <c:v>0.0471111111</c:v>
                </c:pt>
                <c:pt idx="180">
                  <c:v>0.0229202037</c:v>
                </c:pt>
                <c:pt idx="181">
                  <c:v>0.0190871369</c:v>
                </c:pt>
                <c:pt idx="182">
                  <c:v>0.0260586319</c:v>
                </c:pt>
                <c:pt idx="183">
                  <c:v>0.0023809524</c:v>
                </c:pt>
                <c:pt idx="184">
                  <c:v>-0.0166270784</c:v>
                </c:pt>
                <c:pt idx="185">
                  <c:v>-0.0128824477</c:v>
                </c:pt>
                <c:pt idx="186">
                  <c:v>-0.0008156607</c:v>
                </c:pt>
                <c:pt idx="187">
                  <c:v>0.0065306122</c:v>
                </c:pt>
                <c:pt idx="188">
                  <c:v>0.0308191403</c:v>
                </c:pt>
                <c:pt idx="189">
                  <c:v>0.0416994493</c:v>
                </c:pt>
                <c:pt idx="190">
                  <c:v>0.0249244713</c:v>
                </c:pt>
                <c:pt idx="191">
                  <c:v>0.025055269</c:v>
                </c:pt>
                <c:pt idx="192">
                  <c:v>0.0258806614</c:v>
                </c:pt>
                <c:pt idx="193">
                  <c:v>0.0112123336</c:v>
                </c:pt>
                <c:pt idx="194">
                  <c:v>0.0207900208</c:v>
                </c:pt>
                <c:pt idx="195">
                  <c:v>0.0033944331</c:v>
                </c:pt>
                <c:pt idx="196">
                  <c:v>0.0087956698</c:v>
                </c:pt>
                <c:pt idx="197">
                  <c:v>0.0274983233</c:v>
                </c:pt>
                <c:pt idx="198">
                  <c:v>0.0319843342</c:v>
                </c:pt>
                <c:pt idx="199">
                  <c:v>0.0050600886</c:v>
                </c:pt>
                <c:pt idx="200">
                  <c:v>0.0188797986</c:v>
                </c:pt>
                <c:pt idx="201">
                  <c:v>0.0395305744</c:v>
                </c:pt>
                <c:pt idx="202">
                  <c:v>0.1598336304</c:v>
                </c:pt>
                <c:pt idx="203">
                  <c:v>0.1086065574</c:v>
                </c:pt>
                <c:pt idx="204">
                  <c:v>0.084103512</c:v>
                </c:pt>
                <c:pt idx="205">
                  <c:v>0.047314578</c:v>
                </c:pt>
                <c:pt idx="206">
                  <c:v>0.1339031339</c:v>
                </c:pt>
                <c:pt idx="207">
                  <c:v>0.0165111271</c:v>
                </c:pt>
                <c:pt idx="208">
                  <c:v>0.0208333333</c:v>
                </c:pt>
                <c:pt idx="209">
                  <c:v>0.0314769976</c:v>
                </c:pt>
                <c:pt idx="210">
                  <c:v>0.0083836351</c:v>
                </c:pt>
                <c:pt idx="211">
                  <c:v>0.019953442</c:v>
                </c:pt>
                <c:pt idx="212">
                  <c:v>0.0508640365</c:v>
                </c:pt>
                <c:pt idx="213">
                  <c:v>0.0573999379</c:v>
                </c:pt>
                <c:pt idx="214">
                  <c:v>0.0184859155</c:v>
                </c:pt>
                <c:pt idx="215">
                  <c:v>0.0662633247</c:v>
                </c:pt>
                <c:pt idx="216">
                  <c:v>0.0734936504</c:v>
                </c:pt>
                <c:pt idx="217">
                  <c:v>0.0385099421</c:v>
                </c:pt>
                <c:pt idx="218">
                  <c:v>0.0392632089</c:v>
                </c:pt>
                <c:pt idx="219">
                  <c:v>0.0072294776</c:v>
                </c:pt>
                <c:pt idx="220">
                  <c:v>0.0303310952</c:v>
                </c:pt>
                <c:pt idx="221">
                  <c:v>0.0768539326</c:v>
                </c:pt>
                <c:pt idx="222">
                  <c:v>0.084933222</c:v>
                </c:pt>
                <c:pt idx="223">
                  <c:v>0.0330832852</c:v>
                </c:pt>
                <c:pt idx="224">
                  <c:v>0.0320238317</c:v>
                </c:pt>
                <c:pt idx="225">
                  <c:v>0.0277827891</c:v>
                </c:pt>
                <c:pt idx="226">
                  <c:v>0.0480954889</c:v>
                </c:pt>
                <c:pt idx="227">
                  <c:v>0.0519176017</c:v>
                </c:pt>
                <c:pt idx="228">
                  <c:v>0.0824709441</c:v>
                </c:pt>
                <c:pt idx="229">
                  <c:v>0.0339755846</c:v>
                </c:pt>
                <c:pt idx="230">
                  <c:v>0.0278805121</c:v>
                </c:pt>
                <c:pt idx="231">
                  <c:v>0.0168834763</c:v>
                </c:pt>
                <c:pt idx="232">
                  <c:v>0.0178279804</c:v>
                </c:pt>
                <c:pt idx="233">
                  <c:v>0.0183179569</c:v>
                </c:pt>
                <c:pt idx="234">
                  <c:v>-0.0110294118</c:v>
                </c:pt>
                <c:pt idx="235">
                  <c:v>0.0248274031</c:v>
                </c:pt>
                <c:pt idx="236">
                  <c:v>0.0432698536</c:v>
                </c:pt>
                <c:pt idx="237">
                  <c:v>0.0510368807</c:v>
                </c:pt>
                <c:pt idx="238">
                  <c:v>0.0128780718</c:v>
                </c:pt>
                <c:pt idx="239">
                  <c:v>0.0386095882</c:v>
                </c:pt>
                <c:pt idx="240">
                  <c:v>0.031671159</c:v>
                </c:pt>
                <c:pt idx="241">
                  <c:v>0.0494230351</c:v>
                </c:pt>
                <c:pt idx="242">
                  <c:v>0.0201244813</c:v>
                </c:pt>
                <c:pt idx="243">
                  <c:v>-0.0071181615</c:v>
                </c:pt>
                <c:pt idx="244">
                  <c:v>-0.0027652601</c:v>
                </c:pt>
                <c:pt idx="245">
                  <c:v>0.0008216083</c:v>
                </c:pt>
                <c:pt idx="246">
                  <c:v>0.0301693176</c:v>
                </c:pt>
                <c:pt idx="247">
                  <c:v>0.046219743</c:v>
                </c:pt>
                <c:pt idx="248">
                  <c:v>0.0340854994</c:v>
                </c:pt>
                <c:pt idx="249">
                  <c:v>-0.0069054415</c:v>
                </c:pt>
                <c:pt idx="250">
                  <c:v>0.0199332468</c:v>
                </c:pt>
                <c:pt idx="251">
                  <c:v>0.0659030997</c:v>
                </c:pt>
                <c:pt idx="252">
                  <c:v>0.0689067031</c:v>
                </c:pt>
                <c:pt idx="253">
                  <c:v>0.0179511728</c:v>
                </c:pt>
                <c:pt idx="254">
                  <c:v>0.0369934948</c:v>
                </c:pt>
                <c:pt idx="255">
                  <c:v>-0.0048371249</c:v>
                </c:pt>
                <c:pt idx="256">
                  <c:v>0.0016708438</c:v>
                </c:pt>
                <c:pt idx="257">
                  <c:v>0.0161498218</c:v>
                </c:pt>
                <c:pt idx="258">
                  <c:v>0.0021638561</c:v>
                </c:pt>
                <c:pt idx="259">
                  <c:v>-0.0020102747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2"/>
          <c:min val="-0.08"/>
        </c:scaling>
        <c:delete val="0"/>
        <c:axPos val="l"/>
        <c:majorGridlines>
          <c:spPr>
            <a:ln xmlns:a="http://schemas.openxmlformats.org/drawingml/2006/main" w="5715">
              <a:solidFill>
                <a:srgbClr val="D7D9D6"/>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269"/>
                </a:solidFill>
                <a:latin typeface="Helvetica Neue"/>
                <a:ea typeface="Helvetica Neue"/>
                <a:cs typeface="Helvetica Neue"/>
              </a:defRPr>
            </a:pPr>
          </a:p>
        </c:txPr>
        <c:crossAx val="48650112"/>
        <c:majorUnit val="0.04"/>
      </c:valAx>
      <c:valAx>
        <c:axId val="48650112"/>
        <c:scaling>
          <c:orientation val="minMax"/>
          <c:max val="46388"/>
          <c:min val="38353"/>
        </c:scaling>
        <c:delete val="0"/>
        <c:axPos val="b"/>
        <c:numFmt formatCode="yyyy"/>
        <c:majorTickMark val="none"/>
        <c:minorTickMark val="none"/>
        <c:tickLblPos val="low"/>
        <c:spPr>
          <a:ln xmlns:a="http://schemas.openxmlformats.org/drawingml/2006/main" w="9525">
            <a:solidFill>
              <a:srgbClr val="D7D9D6"/>
            </a:solidFill>
          </a:ln>
        </c:spPr>
        <c:txPr>
          <a:bodyPr xmlns:a="http://schemas.openxmlformats.org/drawingml/2006/main" anchorCtr="1"/>
          <a:lstStyle xmlns:a="http://schemas.openxmlformats.org/drawingml/2006/main"/>
          <a:p xmlns:a="http://schemas.openxmlformats.org/drawingml/2006/main">
            <a:pPr>
              <a:defRPr sz="1500">
                <a:solidFill>
                  <a:srgbClr val="566269"/>
                </a:solidFill>
                <a:latin typeface="Helvetica Neue"/>
                <a:ea typeface="Helvetica Neue"/>
                <a:cs typeface="Helvetica Neue"/>
              </a:defRPr>
            </a:pPr>
          </a:p>
        </c:txPr>
        <c:crossAx val="48672768"/>
        <c:majorUnit val="146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23B8E5-4571-4700-A05F-924396C501AC}"/>
              </a:ext>
            </a:extLst>
          </p:cNvPr>
          <p:cNvSpPr>
            <a:spLocks xmlns:a="http://schemas.openxmlformats.org/drawingml/2006/main" noGrp="1"/>
          </p:cNvSpPr>
          <p:nvPr/>
        </p:nvSpPr>
        <p:spPr>
          <a:xfrm xmlns:a="http://schemas.openxmlformats.org/drawingml/2006/main">
            <a:off x="685800" y="666750"/>
            <a:ext cx="10820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182C35"/>
                </a:solidFill>
                <a:latin typeface="Helvetica Neue"/>
                <a:ea typeface="Helvetica Neue"/>
                <a:cs typeface="Helvetica Neue"/>
              </a:defRPr>
            </a:pPr>
            <a:r>
              <a:rPr sz="4350" b="1">
                <a:solidFill>
                  <a:srgbClr val="182C35"/>
                </a:solidFill>
                <a:latin typeface="Helvetica Neue"/>
                <a:ea typeface="Helvetica Neue"/>
                <a:cs typeface="Helvetica Neue"/>
              </a:rPr>
              <a:t>Predicting food inflation</a:t>
            </a:r>
          </a:p>
          <a:p xmlns:a="http://schemas.openxmlformats.org/drawingml/2006/main">
            <a:pPr>
              <a:defRPr sz="4350" b="1">
                <a:solidFill>
                  <a:srgbClr val="182C35"/>
                </a:solidFill>
                <a:latin typeface="Helvetica Neue"/>
                <a:ea typeface="Helvetica Neue"/>
                <a:cs typeface="Helvetica Neue"/>
              </a:defRPr>
            </a:pPr>
            <a:r>
              <a:rPr sz="4350" b="1">
                <a:solidFill>
                  <a:srgbClr val="182C35"/>
                </a:solidFill>
                <a:latin typeface="Helvetica Neue"/>
                <a:ea typeface="Helvetica Neue"/>
                <a:cs typeface="Helvetica Neue"/>
              </a:rPr>
              <a:t>in Turkey</a:t>
            </a:r>
          </a:p>
        </p:txBody>
      </p:sp>
      <p:sp>
        <p:nvSpPr>
          <p:cNvPr id="2" name="">
            <a:extLst xmlns:a="http://schemas.openxmlformats.org/drawingml/2006/main">
              <a:ext uri="{FF2B5EF4-FFF2-40B4-BE49-F238E27FC236}">
                <a16:creationId xmlns:a16="http://schemas.microsoft.com/office/drawing/2014/main" id="{4A54CFB9-4978-42A8-884E-E492D0F7852E}"/>
              </a:ext>
            </a:extLst>
          </p:cNvPr>
          <p:cNvSpPr>
            <a:spLocks xmlns:a="http://schemas.openxmlformats.org/drawingml/2006/main" noGrp="1"/>
          </p:cNvSpPr>
          <p:nvPr/>
        </p:nvSpPr>
        <p:spPr>
          <a:xfrm xmlns:a="http://schemas.openxmlformats.org/drawingml/2006/main">
            <a:off x="685800" y="2505075"/>
            <a:ext cx="10382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82C35"/>
                </a:solidFill>
                <a:latin typeface="Helvetica Neue"/>
                <a:ea typeface="Helvetica Neue"/>
                <a:cs typeface="Helvetica Neue"/>
              </a:defRPr>
            </a:pPr>
            <a:r>
              <a:rPr sz="2700" b="0">
                <a:solidFill>
                  <a:srgbClr val="182C35"/>
                </a:solidFill>
                <a:latin typeface="Helvetica Neue"/>
                <a:ea typeface="Helvetica Neue"/>
                <a:cs typeface="Helvetica Neue"/>
              </a:rPr>
              <a:t>Do exchange rates and global food prices help predict monthly food inflation in Turkey?</a:t>
            </a:r>
          </a:p>
        </p:txBody>
      </p:sp>
      <p:sp>
        <p:nvSpPr>
          <p:cNvPr id="3" name="">
            <a:extLst xmlns:a="http://schemas.openxmlformats.org/drawingml/2006/main">
              <a:ext uri="{FF2B5EF4-FFF2-40B4-BE49-F238E27FC236}">
                <a16:creationId xmlns:a16="http://schemas.microsoft.com/office/drawing/2014/main" id="{FC5642EE-A542-4082-A7EE-ABB9E66A963B}"/>
              </a:ext>
            </a:extLst>
          </p:cNvPr>
          <p:cNvSpPr>
            <a:spLocks xmlns:a="http://schemas.openxmlformats.org/drawingml/2006/main" noGrp="1"/>
          </p:cNvSpPr>
          <p:nvPr/>
        </p:nvSpPr>
        <p:spPr>
          <a:xfrm xmlns:a="http://schemas.openxmlformats.org/drawingml/2006/main">
            <a:off x="685800" y="4191000"/>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66269"/>
                </a:solidFill>
                <a:latin typeface="Helvetica Neue"/>
                <a:ea typeface="Helvetica Neue"/>
                <a:cs typeface="Helvetica Neue"/>
              </a:defRPr>
            </a:pPr>
            <a:r>
              <a:rPr sz="1950" b="0">
                <a:solidFill>
                  <a:srgbClr val="566269"/>
                </a:solidFill>
                <a:latin typeface="Helvetica Neue"/>
                <a:ea typeface="Helvetica Neue"/>
                <a:cs typeface="Helvetica Neue"/>
              </a:rPr>
              <a:t>A "no" means the added indicators fail to reduce forecast error on later months compared with inflation history alone.</a:t>
            </a:r>
          </a:p>
        </p:txBody>
      </p:sp>
      <p:sp>
        <p:nvSpPr>
          <p:cNvPr id="4" name="">
            <a:extLst xmlns:a="http://schemas.openxmlformats.org/drawingml/2006/main">
              <a:ext uri="{FF2B5EF4-FFF2-40B4-BE49-F238E27FC236}">
                <a16:creationId xmlns:a16="http://schemas.microsoft.com/office/drawing/2014/main" id="{DA0B4DB8-D6A2-46F2-9A72-7D09417CA1B0}"/>
              </a:ext>
            </a:extLst>
          </p:cNvPr>
          <p:cNvSpPr>
            <a:spLocks xmlns:a="http://schemas.openxmlformats.org/drawingml/2006/main" noGrp="1"/>
          </p:cNvSpPr>
          <p:nvPr/>
        </p:nvSpPr>
        <p:spPr>
          <a:xfrm xmlns:a="http://schemas.openxmlformats.org/drawingml/2006/main">
            <a:off x="685800" y="58388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82C35"/>
                </a:solidFill>
                <a:latin typeface="Helvetica Neue"/>
                <a:ea typeface="Helvetica Neue"/>
                <a:cs typeface="Helvetica Neue"/>
              </a:defRPr>
            </a:pPr>
            <a:r>
              <a:rPr sz="1725" b="0">
                <a:solidFill>
                  <a:srgbClr val="182C35"/>
                </a:solidFill>
                <a:latin typeface="Helvetica Neue"/>
                <a:ea typeface="Helvetica Neue"/>
                <a:cs typeface="Helvetica Neue"/>
              </a:rPr>
              <a:t>[Team name]    [Member 1]    [Member 2]    [Member 3]</a:t>
            </a:r>
          </a:p>
        </p:txBody>
      </p:sp>
      <p:sp>
        <p:nvSpPr>
          <p:cNvPr id="5" name="">
            <a:extLst xmlns:a="http://schemas.openxmlformats.org/drawingml/2006/main">
              <a:ext uri="{FF2B5EF4-FFF2-40B4-BE49-F238E27FC236}">
                <a16:creationId xmlns:a16="http://schemas.microsoft.com/office/drawing/2014/main" id="{2B13756A-17C4-49D6-B654-6364EDFEAF6D}"/>
              </a:ext>
            </a:extLst>
          </p:cNvPr>
          <p:cNvSpPr>
            <a:spLocks xmlns:a="http://schemas.openxmlformats.org/drawingml/2006/main" noGrp="1"/>
          </p:cNvSpPr>
          <p:nvPr/>
        </p:nvSpPr>
        <p:spPr>
          <a:xfrm xmlns:a="http://schemas.openxmlformats.org/drawingml/2006/main">
            <a:off x="685800" y="63055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DSA 101 project proposal, 19 October 2026</a:t>
            </a:r>
          </a:p>
        </p:txBody>
      </p:sp>
    </p:spTree>
    <p:extLst>
      <p:ext uri="{BB962C8B-B14F-4D97-AF65-F5344CB8AC3E}">
        <p14:creationId xmlns:p14="http://schemas.microsoft.com/office/powerpoint/2010/main" val="220359414"/>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6CDB34-2D05-49FD-AA76-729BF511D6C6}"/>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Three loaded sources, one monthly analysis</a:t>
            </a:r>
          </a:p>
        </p:txBody>
      </p:sp>
      <p:sp>
        <p:nvSpPr>
          <p:cNvPr id="2" name="">
            <a:extLst xmlns:a="http://schemas.openxmlformats.org/drawingml/2006/main">
              <a:ext uri="{FF2B5EF4-FFF2-40B4-BE49-F238E27FC236}">
                <a16:creationId xmlns:a16="http://schemas.microsoft.com/office/drawing/2014/main" id="{E916E476-02F5-48E2-9772-DFFF2974EB49}"/>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2</a:t>
            </a:r>
          </a:p>
        </p:txBody>
      </p:sp>
      <p:graphicFrame>
        <p:nvGraphicFramePr>
          <p:cNvPr id="8" name=""/>
          <p:cNvGraphicFramePr/>
          <p:nvPr/>
        </p:nvGraphicFramePr>
        <p:xfrm>
          <a:off xmlns:a="http://schemas.openxmlformats.org/drawingml/2006/main" x="685800" y="1628775"/>
          <a:ext xmlns:a="http://schemas.openxmlformats.org/drawingml/2006/main" cx="10820400" cy="2952750"/>
        </p:xfrm>
        <a:graphic xmlns:a="http://schemas.openxmlformats.org/drawingml/2006/main">
          <a:graphicData uri="http://schemas.openxmlformats.org/drawingml/2006/table">
            <a:tbl>
              <a:tblPr firstRow="0" bandRow="0"/>
              <a:tblGrid>
                <a:gridCol w="3333750"/>
                <a:gridCol w="2076450"/>
                <a:gridCol w="2228850"/>
                <a:gridCol w="3181350"/>
              </a:tblGrid>
              <a:tr h="738188">
                <a:tc>
                  <a:txBody>
                    <a:bodyPr/>
                    <a:lstStyle/>
                    <a:p>
                      <a:r>
                        <a:rPr sz="1575" b="1">
                          <a:solidFill>
                            <a:srgbClr val="566269"/>
                          </a:solidFill>
                          <a:latin typeface="Helvetica Neue"/>
                          <a:ea typeface="Helvetica Neue"/>
                          <a:cs typeface="Helvetica Neue"/>
                        </a:rPr>
                        <a:t>Source</a:t>
                      </a:r>
                    </a:p>
                  </a:txBody>
                  <a:tcPr marL="114300" marR="114300" marT="133350" marB="114300" anchor="ctr">
                    <a:lnL w="0">
                      <a:solidFill>
                        <a:srgbClr val="FAF8F3"/>
                      </a:solidFill>
                    </a:lnL>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Raw rows × columns</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One row</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Coverage</a:t>
                      </a:r>
                    </a:p>
                  </a:txBody>
                  <a:tcPr marL="114300" marR="114300" marT="133350" marB="114300" anchor="ctr">
                    <a:lnR w="0">
                      <a:solidFill>
                        <a:srgbClr val="FAF8F3"/>
                      </a:solidFill>
                    </a:lnR>
                    <a:lnT w="5715">
                      <a:solidFill>
                        <a:srgbClr val="D7D9D6"/>
                      </a:solidFill>
                    </a:lnT>
                    <a:solidFill>
                      <a:srgbClr val="FAF8F3"/>
                    </a:solidFill>
                  </a:tcPr>
                </a:tc>
              </a:tr>
              <a:tr h="738188">
                <a:tc>
                  <a:txBody>
                    <a:bodyPr/>
                    <a:lstStyle/>
                    <a:p>
                      <a:r>
                        <a:rPr sz="1725">
                          <a:solidFill>
                            <a:srgbClr val="182C35"/>
                          </a:solidFill>
                          <a:latin typeface="Helvetica Neue"/>
                          <a:ea typeface="Helvetica Neue"/>
                          <a:cs typeface="Helvetica Neue"/>
                        </a:rPr>
                        <a:t>TurkStat CPI via EVDS</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261 × 7</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One month</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Jan 2005 to Sep 2026</a:t>
                      </a:r>
                    </a:p>
                  </a:txBody>
                  <a:tcPr marL="114300" marR="114300" marT="133350" marB="114300" anchor="ctr">
                    <a:lnR w="0">
                      <a:solidFill>
                        <a:srgbClr val="FAF8F3"/>
                      </a:solidFill>
                    </a:lnR>
                    <a:solidFill>
                      <a:srgbClr val="FAF8F3"/>
                    </a:solidFill>
                  </a:tcPr>
                </a:tc>
              </a:tr>
              <a:tr h="738188">
                <a:tc>
                  <a:txBody>
                    <a:bodyPr/>
                    <a:lstStyle/>
                    <a:p>
                      <a:r>
                        <a:rPr sz="1725">
                          <a:solidFill>
                            <a:srgbClr val="182C35"/>
                          </a:solidFill>
                          <a:latin typeface="Helvetica Neue"/>
                          <a:ea typeface="Helvetica Neue"/>
                          <a:cs typeface="Helvetica Neue"/>
                        </a:rPr>
                        <a:t>TCMB USD/TRY via EVDS</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7,943 × 3</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One calendar date</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Jan 2005 to Sep 2026</a:t>
                      </a:r>
                    </a:p>
                  </a:txBody>
                  <a:tcPr marL="114300" marR="114300" marT="133350" marB="114300" anchor="ctr">
                    <a:lnR w="0">
                      <a:solidFill>
                        <a:srgbClr val="FAF8F3"/>
                      </a:solidFill>
                    </a:lnR>
                    <a:solidFill>
                      <a:srgbClr val="FAF8F3"/>
                    </a:solidFill>
                  </a:tcPr>
                </a:tc>
              </a:tr>
              <a:tr h="738188">
                <a:tc>
                  <a:txBody>
                    <a:bodyPr/>
                    <a:lstStyle/>
                    <a:p>
                      <a:r>
                        <a:rPr sz="1725">
                          <a:solidFill>
                            <a:srgbClr val="182C35"/>
                          </a:solidFill>
                          <a:latin typeface="Helvetica Neue"/>
                          <a:ea typeface="Helvetica Neue"/>
                          <a:cs typeface="Helvetica Neue"/>
                        </a:rPr>
                        <a:t>FAO Food Price Index</a:t>
                      </a:r>
                    </a:p>
                  </a:txBody>
                  <a:tcPr marL="114300" marR="114300" marT="133350" marB="114300" anchor="ctr">
                    <a:lnL w="0">
                      <a:solidFill>
                        <a:srgbClr val="FAF8F3"/>
                      </a:solidFill>
                    </a:lnL>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441 × 7</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One month</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Jan 1990 to Sep 2026</a:t>
                      </a:r>
                    </a:p>
                  </a:txBody>
                  <a:tcPr marL="114300" marR="114300" marT="133350" marB="114300" anchor="ctr">
                    <a:lnR w="0">
                      <a:solidFill>
                        <a:srgbClr val="FAF8F3"/>
                      </a:solidFill>
                    </a:lnR>
                    <a:lnB w="5715">
                      <a:solidFill>
                        <a:srgbClr val="D7D9D6"/>
                      </a:solidFill>
                    </a:lnB>
                    <a:solidFill>
                      <a:srgbClr val="FAF8F3"/>
                    </a:solidFill>
                  </a:tcPr>
                </a:tc>
              </a:tr>
            </a:tbl>
          </a:graphicData>
        </a:graphic>
      </p:graphicFrame>
      <p:sp>
        <p:nvSpPr>
          <p:cNvPr id="4" name="">
            <a:extLst xmlns:a="http://schemas.openxmlformats.org/drawingml/2006/main">
              <a:ext uri="{FF2B5EF4-FFF2-40B4-BE49-F238E27FC236}">
                <a16:creationId xmlns:a16="http://schemas.microsoft.com/office/drawing/2014/main" id="{BA83DF80-0DD2-4FFF-87D9-7F500A148083}"/>
              </a:ext>
            </a:extLst>
          </p:cNvPr>
          <p:cNvSpPr>
            <a:spLocks xmlns:a="http://schemas.openxmlformats.org/drawingml/2006/main" noGrp="1"/>
          </p:cNvSpPr>
          <p:nvPr/>
        </p:nvSpPr>
        <p:spPr>
          <a:xfrm xmlns:a="http://schemas.openxmlformats.org/drawingml/2006/main">
            <a:off x="685800" y="48768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C35"/>
                </a:solidFill>
                <a:latin typeface="Helvetica Neue"/>
                <a:ea typeface="Helvetica Neue"/>
                <a:cs typeface="Helvetica Neue"/>
              </a:defRPr>
            </a:pPr>
            <a:r>
              <a:rPr sz="1875" b="0">
                <a:solidFill>
                  <a:srgbClr val="182C35"/>
                </a:solidFill>
                <a:latin typeface="Helvetica Neue"/>
                <a:ea typeface="Helvetica Neue"/>
                <a:cs typeface="Helvetica Neue"/>
              </a:rPr>
              <a:t>261 common months. The monthly FX mean uses published rates only, with 5,473 daily rates in the file.</a:t>
            </a:r>
          </a:p>
        </p:txBody>
      </p:sp>
      <p:sp>
        <p:nvSpPr>
          <p:cNvPr id="5" name="">
            <a:extLst xmlns:a="http://schemas.openxmlformats.org/drawingml/2006/main">
              <a:ext uri="{FF2B5EF4-FFF2-40B4-BE49-F238E27FC236}">
                <a16:creationId xmlns:a16="http://schemas.microsoft.com/office/drawing/2014/main" id="{3B842051-8BB9-44C4-8ED7-AFDF059505C2}"/>
              </a:ext>
            </a:extLst>
          </p:cNvPr>
          <p:cNvSpPr>
            <a:spLocks xmlns:a="http://schemas.openxmlformats.org/drawingml/2006/main" noGrp="1"/>
          </p:cNvSpPr>
          <p:nvPr/>
        </p:nvSpPr>
        <p:spPr>
          <a:xfrm xmlns:a="http://schemas.openxmlformats.org/drawingml/2006/main">
            <a:off x="685800" y="57435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66269"/>
                </a:solidFill>
                <a:latin typeface="Helvetica Neue"/>
                <a:ea typeface="Helvetica Neue"/>
                <a:cs typeface="Helvetica Neue"/>
              </a:defRPr>
            </a:pPr>
            <a:r>
              <a:rPr sz="1575" b="0">
                <a:solidFill>
                  <a:srgbClr val="566269"/>
                </a:solidFill>
                <a:latin typeface="Helvetica Neue"/>
                <a:ea typeface="Helvetica Neue"/>
                <a:cs typeface="Helvetica Neue"/>
              </a:rPr>
              <a:t>EVDS terms require attribution. FAO datasets use CC BY 4.0 unless stated otherwise.</a:t>
            </a:r>
          </a:p>
        </p:txBody>
      </p:sp>
    </p:spTree>
    <p:extLst>
      <p:ext uri="{BB962C8B-B14F-4D97-AF65-F5344CB8AC3E}">
        <p14:creationId xmlns:p14="http://schemas.microsoft.com/office/powerpoint/2010/main" val="1617910266"/>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71FE99-4578-4BD8-8291-F844A6417745}"/>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First look at monthly food inflation</a:t>
            </a:r>
          </a:p>
        </p:txBody>
      </p:sp>
      <p:sp>
        <p:nvSpPr>
          <p:cNvPr id="2" name="">
            <a:extLst xmlns:a="http://schemas.openxmlformats.org/drawingml/2006/main">
              <a:ext uri="{FF2B5EF4-FFF2-40B4-BE49-F238E27FC236}">
                <a16:creationId xmlns:a16="http://schemas.microsoft.com/office/drawing/2014/main" id="{903B0CC5-2EAD-4098-A7FF-843398E3AED5}"/>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7A28964F-1D1A-4D82-8D2D-A991410A4C1C}"/>
              </a:ext>
            </a:extLst>
          </p:cNvPr>
          <p:cNvSpPr>
            <a:spLocks xmlns:a="http://schemas.openxmlformats.org/drawingml/2006/main" noGrp="1"/>
          </p:cNvSpPr>
          <p:nvPr/>
        </p:nvSpPr>
        <p:spPr>
          <a:xfrm xmlns:a="http://schemas.openxmlformats.org/drawingml/2006/main">
            <a:off x="685800" y="13144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66269"/>
                </a:solidFill>
                <a:latin typeface="Helvetica Neue"/>
                <a:ea typeface="Helvetica Neue"/>
                <a:cs typeface="Helvetica Neue"/>
              </a:defRPr>
            </a:pPr>
            <a:r>
              <a:rPr sz="1725" b="0">
                <a:solidFill>
                  <a:srgbClr val="566269"/>
                </a:solidFill>
                <a:latin typeface="Helvetica Neue"/>
                <a:ea typeface="Helvetica Neue"/>
                <a:cs typeface="Helvetica Neue"/>
              </a:rPr>
              <a:t>February 2005 to September 2026, change from the previous month</a:t>
            </a:r>
          </a:p>
        </p:txBody>
      </p:sp>
      <p:graphicFrame>
        <p:nvGraphicFramePr>
          <p:cNvPr id="10" name="Chart"/>
          <p:cNvGraphicFramePr/>
          <p:nvPr/>
        </p:nvGraphicFramePr>
        <p:xfrm>
          <a:off xmlns:a="http://schemas.openxmlformats.org/drawingml/2006/main" x="685800" y="1809750"/>
          <a:ext xmlns:a="http://schemas.openxmlformats.org/drawingml/2006/main" cx="10820400" cy="3429000"/>
        </p:xfrm>
        <a:graphic xmlns:a="http://schemas.openxmlformats.org/drawingml/2006/main">
          <a:graphicData uri="http://schemas.openxmlformats.org/drawingml/2006/chart">
            <c:chart xmlns:r="http://schemas.openxmlformats.org/officeDocument/2006/relationships" xmlns:c="http://schemas.openxmlformats.org/drawingml/2006/chart" r:id="R9838ee638c2f4ace"/>
          </a:graphicData>
        </a:graphic>
      </p:graphicFrame>
      <p:sp>
        <p:nvSpPr>
          <p:cNvPr id="5" name="">
            <a:extLst xmlns:a="http://schemas.openxmlformats.org/drawingml/2006/main">
              <a:ext uri="{FF2B5EF4-FFF2-40B4-BE49-F238E27FC236}">
                <a16:creationId xmlns:a16="http://schemas.microsoft.com/office/drawing/2014/main" id="{0A953FC4-BB64-497E-997F-66DDAE0C7A3A}"/>
              </a:ext>
            </a:extLst>
          </p:cNvPr>
          <p:cNvSpPr>
            <a:spLocks xmlns:a="http://schemas.openxmlformats.org/drawingml/2006/main" noGrp="1"/>
          </p:cNvSpPr>
          <p:nvPr/>
        </p:nvSpPr>
        <p:spPr>
          <a:xfrm xmlns:a="http://schemas.openxmlformats.org/drawingml/2006/main">
            <a:off x="685800" y="54387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C35"/>
                </a:solidFill>
                <a:latin typeface="Helvetica Neue"/>
                <a:ea typeface="Helvetica Neue"/>
                <a:cs typeface="Helvetica Neue"/>
              </a:defRPr>
            </a:pPr>
            <a:r>
              <a:rPr sz="1875" b="0">
                <a:solidFill>
                  <a:srgbClr val="182C35"/>
                </a:solidFill>
                <a:latin typeface="Helvetica Neue"/>
                <a:ea typeface="Helvetica Neue"/>
                <a:cs typeface="Helvetica Neue"/>
              </a:rPr>
              <a:t>Median monthly change: 1.37%. The largest change was 15.98% in December 2021.</a:t>
            </a:r>
          </a:p>
        </p:txBody>
      </p:sp>
      <p:sp>
        <p:nvSpPr>
          <p:cNvPr id="6" name="">
            <a:extLst xmlns:a="http://schemas.openxmlformats.org/drawingml/2006/main">
              <a:ext uri="{FF2B5EF4-FFF2-40B4-BE49-F238E27FC236}">
                <a16:creationId xmlns:a16="http://schemas.microsoft.com/office/drawing/2014/main" id="{A7418FA1-107A-497D-8674-8E4C2E9BFCD5}"/>
              </a:ext>
            </a:extLst>
          </p:cNvPr>
          <p:cNvSpPr>
            <a:spLocks xmlns:a="http://schemas.openxmlformats.org/drawingml/2006/main" noGrp="1"/>
          </p:cNvSpPr>
          <p:nvPr/>
        </p:nvSpPr>
        <p:spPr>
          <a:xfrm xmlns:a="http://schemas.openxmlformats.org/drawingml/2006/main">
            <a:off x="685800" y="59436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66269"/>
                </a:solidFill>
                <a:latin typeface="Helvetica Neue"/>
                <a:ea typeface="Helvetica Neue"/>
                <a:cs typeface="Helvetica Neue"/>
              </a:defRPr>
            </a:pPr>
            <a:r>
              <a:rPr sz="1650" b="0">
                <a:solidFill>
                  <a:srgbClr val="566269"/>
                </a:solidFill>
                <a:latin typeface="Helvetica Neue"/>
                <a:ea typeface="Helvetica Neue"/>
                <a:cs typeface="Helvetica Neue"/>
              </a:rPr>
              <a:t>This describes historical variation. It does not show whether exchange rates or FAO prices improve forecasts.</a:t>
            </a:r>
          </a:p>
        </p:txBody>
      </p:sp>
    </p:spTree>
    <p:extLst>
      <p:ext uri="{BB962C8B-B14F-4D97-AF65-F5344CB8AC3E}">
        <p14:creationId xmlns:p14="http://schemas.microsoft.com/office/powerpoint/2010/main" val="1914071101"/>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13017E-5B43-4EDD-A9DE-7D0BDF66E5A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Forecast timing is the biggest risk</a:t>
            </a:r>
          </a:p>
        </p:txBody>
      </p:sp>
      <p:sp>
        <p:nvSpPr>
          <p:cNvPr id="2" name="">
            <a:extLst xmlns:a="http://schemas.openxmlformats.org/drawingml/2006/main">
              <a:ext uri="{FF2B5EF4-FFF2-40B4-BE49-F238E27FC236}">
                <a16:creationId xmlns:a16="http://schemas.microsoft.com/office/drawing/2014/main" id="{8AA58DD3-CEB3-461B-B5DE-6F9BA8F4D3BF}"/>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DA82909D-2885-4CCD-9B0E-8229820A7166}"/>
              </a:ext>
            </a:extLst>
          </p:cNvPr>
          <p:cNvSpPr>
            <a:spLocks xmlns:a="http://schemas.openxmlformats.org/drawingml/2006/main" noGrp="1"/>
          </p:cNvSpPr>
          <p:nvPr/>
        </p:nvSpPr>
        <p:spPr>
          <a:xfrm xmlns:a="http://schemas.openxmlformats.org/drawingml/2006/main">
            <a:off x="685800" y="16287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9D3B33"/>
                </a:solidFill>
                <a:latin typeface="Helvetica Neue"/>
                <a:ea typeface="Helvetica Neue"/>
                <a:cs typeface="Helvetica Neue"/>
              </a:defRPr>
            </a:pPr>
            <a:r>
              <a:rPr sz="2325" b="1">
                <a:solidFill>
                  <a:srgbClr val="9D3B33"/>
                </a:solidFill>
                <a:latin typeface="Helvetica Neue"/>
                <a:ea typeface="Helvetica Neue"/>
                <a:cs typeface="Helvetica Neue"/>
              </a:rPr>
              <a:t>A model could use an indicator that had not yet been published.</a:t>
            </a:r>
          </a:p>
        </p:txBody>
      </p:sp>
      <p:sp>
        <p:nvSpPr>
          <p:cNvPr id="4" name="">
            <a:extLst xmlns:a="http://schemas.openxmlformats.org/drawingml/2006/main">
              <a:ext uri="{FF2B5EF4-FFF2-40B4-BE49-F238E27FC236}">
                <a16:creationId xmlns:a16="http://schemas.microsoft.com/office/drawing/2014/main" id="{D48BE449-05DD-46C5-B495-5289BA458C41}"/>
              </a:ext>
            </a:extLst>
          </p:cNvPr>
          <p:cNvSpPr>
            <a:spLocks xmlns:a="http://schemas.openxmlformats.org/drawingml/2006/main" noGrp="1"/>
          </p:cNvSpPr>
          <p:nvPr/>
        </p:nvSpPr>
        <p:spPr>
          <a:xfrm xmlns:a="http://schemas.openxmlformats.org/drawingml/2006/main">
            <a:off x="685800" y="25622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C35"/>
                </a:solidFill>
                <a:latin typeface="Helvetica Neue"/>
                <a:ea typeface="Helvetica Neue"/>
                <a:cs typeface="Helvetica Neue"/>
              </a:defRPr>
            </a:pPr>
            <a:r>
              <a:rPr sz="2100" b="0">
                <a:solidFill>
                  <a:srgbClr val="182C35"/>
                </a:solidFill>
                <a:latin typeface="Helvetica Neue"/>
                <a:ea typeface="Helvetica Neue"/>
                <a:cs typeface="Helvetica Neue"/>
              </a:rPr>
              <a:t>We will use only earlier available observations and test forecasts on later months. Random splits would leak future information.</a:t>
            </a:r>
          </a:p>
        </p:txBody>
      </p:sp>
      <p:sp>
        <p:nvSpPr>
          <p:cNvPr id="5" name="">
            <a:extLst xmlns:a="http://schemas.openxmlformats.org/drawingml/2006/main">
              <a:ext uri="{FF2B5EF4-FFF2-40B4-BE49-F238E27FC236}">
                <a16:creationId xmlns:a16="http://schemas.microsoft.com/office/drawing/2014/main" id="{C9ECCD20-4295-4D8E-A0C5-65C60469DC89}"/>
              </a:ext>
            </a:extLst>
          </p:cNvPr>
          <p:cNvSpPr>
            <a:spLocks xmlns:a="http://schemas.openxmlformats.org/drawingml/2006/main" noGrp="1"/>
          </p:cNvSpPr>
          <p:nvPr/>
        </p:nvSpPr>
        <p:spPr>
          <a:xfrm xmlns:a="http://schemas.openxmlformats.org/drawingml/2006/main">
            <a:off x="685800" y="38385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566269"/>
                </a:solidFill>
                <a:latin typeface="Helvetica Neue"/>
                <a:ea typeface="Helvetica Neue"/>
                <a:cs typeface="Helvetica Neue"/>
              </a:defRPr>
            </a:pPr>
            <a:r>
              <a:rPr sz="1800" b="1">
                <a:solidFill>
                  <a:srgbClr val="566269"/>
                </a:solidFill>
                <a:latin typeface="Helvetica Neue"/>
                <a:ea typeface="Helvetica Neue"/>
                <a:cs typeface="Helvetica Neue"/>
              </a:rPr>
              <a:t>Proposed comparison</a:t>
            </a:r>
          </a:p>
        </p:txBody>
      </p:sp>
      <p:sp>
        <p:nvSpPr>
          <p:cNvPr id="6" name="">
            <a:extLst xmlns:a="http://schemas.openxmlformats.org/drawingml/2006/main">
              <a:ext uri="{FF2B5EF4-FFF2-40B4-BE49-F238E27FC236}">
                <a16:creationId xmlns:a16="http://schemas.microsoft.com/office/drawing/2014/main" id="{AED1DE3B-8E85-4928-BB1C-D0A200B1117A}"/>
              </a:ext>
            </a:extLst>
          </p:cNvPr>
          <p:cNvSpPr>
            <a:spLocks xmlns:a="http://schemas.openxmlformats.org/drawingml/2006/main" noGrp="1"/>
          </p:cNvSpPr>
          <p:nvPr/>
        </p:nvSpPr>
        <p:spPr>
          <a:xfrm xmlns:a="http://schemas.openxmlformats.org/drawingml/2006/main">
            <a:off x="685800" y="42957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C35"/>
                </a:solidFill>
                <a:latin typeface="Helvetica Neue"/>
                <a:ea typeface="Helvetica Neue"/>
                <a:cs typeface="Helvetica Neue"/>
              </a:defRPr>
            </a:pPr>
            <a:r>
              <a:rPr sz="2100" b="0">
                <a:solidFill>
                  <a:srgbClr val="182C35"/>
                </a:solidFill>
                <a:latin typeface="Helvetica Neue"/>
                <a:ea typeface="Helvetica Neue"/>
                <a:cs typeface="Helvetica Neue"/>
              </a:rPr>
              <a:t>Inflation history alone versus a regression with lagged USD/TRY and FAO price changes. Compare monthly forecast errors.</a:t>
            </a:r>
          </a:p>
        </p:txBody>
      </p:sp>
      <p:sp>
        <p:nvSpPr>
          <p:cNvPr id="7" name="">
            <a:extLst xmlns:a="http://schemas.openxmlformats.org/drawingml/2006/main">
              <a:ext uri="{FF2B5EF4-FFF2-40B4-BE49-F238E27FC236}">
                <a16:creationId xmlns:a16="http://schemas.microsoft.com/office/drawing/2014/main" id="{CC0BC873-FC6C-4793-8A45-5F05488995C9}"/>
              </a:ext>
            </a:extLst>
          </p:cNvPr>
          <p:cNvSpPr>
            <a:spLocks xmlns:a="http://schemas.openxmlformats.org/drawingml/2006/main" noGrp="1"/>
          </p:cNvSpPr>
          <p:nvPr/>
        </p:nvSpPr>
        <p:spPr>
          <a:xfrm xmlns:a="http://schemas.openxmlformats.org/drawingml/2006/main">
            <a:off x="685800" y="55816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66269"/>
                </a:solidFill>
                <a:latin typeface="Helvetica Neue"/>
                <a:ea typeface="Helvetica Neue"/>
                <a:cs typeface="Helvetica Neue"/>
              </a:defRPr>
            </a:pPr>
            <a:r>
              <a:rPr sz="1875" b="0">
                <a:solidFill>
                  <a:srgbClr val="566269"/>
                </a:solidFill>
                <a:latin typeface="Helvetica Neue"/>
                <a:ea typeface="Helvetica Neue"/>
                <a:cs typeface="Helvetica Neue"/>
              </a:rPr>
              <a:t>Beyond the course idea: expanding-window validation and a check for seasonality.</a:t>
            </a:r>
          </a:p>
        </p:txBody>
      </p:sp>
    </p:spTree>
    <p:extLst>
      <p:ext uri="{BB962C8B-B14F-4D97-AF65-F5344CB8AC3E}">
        <p14:creationId xmlns:p14="http://schemas.microsoft.com/office/powerpoint/2010/main" val="221654846"/>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DE4F38-3B26-431D-BF41-25203ACDDEE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Proposed plan through 23 November</a:t>
            </a:r>
          </a:p>
        </p:txBody>
      </p:sp>
      <p:sp>
        <p:nvSpPr>
          <p:cNvPr id="2" name="">
            <a:extLst xmlns:a="http://schemas.openxmlformats.org/drawingml/2006/main">
              <a:ext uri="{FF2B5EF4-FFF2-40B4-BE49-F238E27FC236}">
                <a16:creationId xmlns:a16="http://schemas.microsoft.com/office/drawing/2014/main" id="{B2B789AB-46A4-4E6C-838E-E0BBA928344F}"/>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85800" y="1533525"/>
          <a:ext xmlns:a="http://schemas.openxmlformats.org/drawingml/2006/main" cx="10820400" cy="3800475"/>
        </p:xfrm>
        <a:graphic xmlns:a="http://schemas.openxmlformats.org/drawingml/2006/main">
          <a:graphicData uri="http://schemas.openxmlformats.org/drawingml/2006/table">
            <a:tbl>
              <a:tblPr firstRow="0" bandRow="0"/>
              <a:tblGrid>
                <a:gridCol w="1790700"/>
                <a:gridCol w="5753100"/>
                <a:gridCol w="3276600"/>
              </a:tblGrid>
              <a:tr h="633413">
                <a:tc>
                  <a:txBody>
                    <a:bodyPr/>
                    <a:lstStyle/>
                    <a:p>
                      <a:r>
                        <a:rPr sz="1575" b="1">
                          <a:solidFill>
                            <a:srgbClr val="566269"/>
                          </a:solidFill>
                          <a:latin typeface="Helvetica Neue"/>
                          <a:ea typeface="Helvetica Neue"/>
                          <a:cs typeface="Helvetica Neue"/>
                        </a:rPr>
                        <a:t>By</a:t>
                      </a:r>
                    </a:p>
                  </a:txBody>
                  <a:tcPr marL="114300" marR="114300" marT="133350" marB="114300" anchor="ctr">
                    <a:lnL w="0">
                      <a:solidFill>
                        <a:srgbClr val="FAF8F3"/>
                      </a:solidFill>
                    </a:lnL>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Planned output</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Owner</a:t>
                      </a:r>
                    </a:p>
                  </a:txBody>
                  <a:tcPr marL="114300" marR="114300" marT="133350" marB="114300" anchor="ctr">
                    <a:lnR w="0">
                      <a:solidFill>
                        <a:srgbClr val="FAF8F3"/>
                      </a:solidFill>
                    </a:lnR>
                    <a:lnT w="5715">
                      <a:solidFill>
                        <a:srgbClr val="D7D9D6"/>
                      </a:solidFill>
                    </a:lnT>
                    <a:solidFill>
                      <a:srgbClr val="FAF8F3"/>
                    </a:solidFill>
                  </a:tcPr>
                </a:tc>
              </a:tr>
              <a:tr h="633413">
                <a:tc>
                  <a:txBody>
                    <a:bodyPr/>
                    <a:lstStyle/>
                    <a:p>
                      <a:r>
                        <a:rPr sz="1725">
                          <a:solidFill>
                            <a:srgbClr val="182C35"/>
                          </a:solidFill>
                          <a:latin typeface="Helvetica Neue"/>
                          <a:ea typeface="Helvetica Neue"/>
                          <a:cs typeface="Helvetica Neue"/>
                        </a:rPr>
                        <a:t>26 October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Monthly join and availability rules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1, data</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2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Exploration and candidate lags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2, exploration</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9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Baseline and regression comparison</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3, evaluation</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16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Review errors, timing, and limitations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All members</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23 November</a:t>
                      </a:r>
                    </a:p>
                  </a:txBody>
                  <a:tcPr marL="114300" marR="114300" marT="133350" marB="114300" anchor="ctr">
                    <a:lnL w="0">
                      <a:solidFill>
                        <a:srgbClr val="FAF8F3"/>
                      </a:solidFill>
                    </a:lnL>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Checkpoint report and notebook</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All members</a:t>
                      </a:r>
                    </a:p>
                  </a:txBody>
                  <a:tcPr marL="114300" marR="114300" marT="133350" marB="114300" anchor="ctr">
                    <a:lnR w="0">
                      <a:solidFill>
                        <a:srgbClr val="FAF8F3"/>
                      </a:solidFill>
                    </a:lnR>
                    <a:lnB w="5715">
                      <a:solidFill>
                        <a:srgbClr val="D7D9D6"/>
                      </a:solidFill>
                    </a:lnB>
                    <a:solidFill>
                      <a:srgbClr val="FAF8F3"/>
                    </a:solidFill>
                  </a:tcPr>
                </a:tc>
              </a:tr>
            </a:tbl>
          </a:graphicData>
        </a:graphic>
      </p:graphicFrame>
      <p:sp>
        <p:nvSpPr>
          <p:cNvPr id="4" name="">
            <a:extLst xmlns:a="http://schemas.openxmlformats.org/drawingml/2006/main">
              <a:ext uri="{FF2B5EF4-FFF2-40B4-BE49-F238E27FC236}">
                <a16:creationId xmlns:a16="http://schemas.microsoft.com/office/drawing/2014/main" id="{0E39BC1D-7C6D-471E-A98E-47AB30811776}"/>
              </a:ext>
            </a:extLst>
          </p:cNvPr>
          <p:cNvSpPr>
            <a:spLocks xmlns:a="http://schemas.openxmlformats.org/drawingml/2006/main" noGrp="1"/>
          </p:cNvSpPr>
          <p:nvPr/>
        </p:nvSpPr>
        <p:spPr>
          <a:xfrm xmlns:a="http://schemas.openxmlformats.org/drawingml/2006/main">
            <a:off x="685800" y="57721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66269"/>
                </a:solidFill>
                <a:latin typeface="Helvetica Neue"/>
                <a:ea typeface="Helvetica Neue"/>
                <a:cs typeface="Helvetica Neue"/>
              </a:defRPr>
            </a:pPr>
            <a:r>
              <a:rPr sz="1950" b="0">
                <a:solidFill>
                  <a:srgbClr val="566269"/>
                </a:solidFill>
                <a:latin typeface="Helvetica Neue"/>
                <a:ea typeface="Helvetica Neue"/>
                <a:cs typeface="Helvetica Neue"/>
              </a:rPr>
              <a:t>All three cross-review the work and speak in the presentation.</a:t>
            </a:r>
          </a:p>
        </p:txBody>
      </p:sp>
    </p:spTree>
    <p:extLst>
      <p:ext uri="{BB962C8B-B14F-4D97-AF65-F5344CB8AC3E}">
        <p14:creationId xmlns:p14="http://schemas.microsoft.com/office/powerpoint/2010/main" val="908666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2026-10-14T14:49:37.1010000Z</dcterms:created>
  <dcterms:modified xsi:type="dcterms:W3CDTF">2026-10-14T14:49:37.1010000Z</dcterms:modified>
</coreProperties>
</file>