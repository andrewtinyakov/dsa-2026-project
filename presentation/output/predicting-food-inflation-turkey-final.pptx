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22450975184092" /><Relationship Type="http://schemas.openxmlformats.org/officeDocument/2006/relationships/extended-properties" Target="/docProps/app.xml" Id="R57658dfdc41647e5" /><Relationship Type="http://schemas.openxmlformats.org/officeDocument/2006/relationships/officeDocument" Target="/ppt/presentation.xml" Id="R0e955ee3ba20427c" /></Relationships>
</file>

<file path=ppt/presentation.xml><?xml version="1.0" encoding="utf-8"?>
<p:presentation xmlns:p="http://schemas.openxmlformats.org/presentationml/2006/main">
  <p:sldMasterIdLst>
    <p:sldMasterId xmlns:r="http://schemas.openxmlformats.org/officeDocument/2006/relationships" id="2147483648" r:id="R1e94435317f34869"/>
  </p:sldMasterIdLst>
  <p:notesMasterIdLst>
    <p:notesMasterId xmlns:r="http://schemas.openxmlformats.org/officeDocument/2006/relationships" r:id="R28b353b77c6746cb"/>
  </p:notesMasterIdLst>
  <p:sldIdLst>
    <p:sldId xmlns:r="http://schemas.openxmlformats.org/officeDocument/2006/relationships" id="256" r:id="R52a4bbbf388a4269"/>
    <p:sldId xmlns:r="http://schemas.openxmlformats.org/officeDocument/2006/relationships" id="257" r:id="Rde35cc2ffa6340b0"/>
    <p:sldId xmlns:r="http://schemas.openxmlformats.org/officeDocument/2006/relationships" id="258" r:id="Ra84b7d83e11440be"/>
    <p:sldId xmlns:r="http://schemas.openxmlformats.org/officeDocument/2006/relationships" id="259" r:id="R7b2b7214e20b4dd4"/>
    <p:sldId xmlns:r="http://schemas.openxmlformats.org/officeDocument/2006/relationships" id="260" r:id="R4e3769555af74f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1f5a3e3fae41ab" /><Relationship Type="http://schemas.openxmlformats.org/officeDocument/2006/relationships/slideMaster" Target="/ppt/slideMasters/slideMaster1.xml" Id="R1e94435317f34869" /><Relationship Type="http://schemas.openxmlformats.org/officeDocument/2006/relationships/notesMaster" Target="/ppt/notesMasters/notesMaster1.xml" Id="R28b353b77c6746cb" /><Relationship Type="http://schemas.openxmlformats.org/officeDocument/2006/relationships/presProps" Target="/ppt/presProps.xml" Id="Rf3b606f66e42489a" /><Relationship Type="http://schemas.openxmlformats.org/officeDocument/2006/relationships/tableStyles" Target="/ppt/tableStyles.xml" Id="R291f354649c14596" /><Relationship Type="http://schemas.openxmlformats.org/officeDocument/2006/relationships/slide" Target="/ppt/slides/slide1.xml" Id="R52a4bbbf388a4269" /><Relationship Type="http://schemas.openxmlformats.org/officeDocument/2006/relationships/slide" Target="/ppt/slides/slide2.xml" Id="Rde35cc2ffa6340b0" /><Relationship Type="http://schemas.openxmlformats.org/officeDocument/2006/relationships/slide" Target="/ppt/slides/slide3.xml" Id="Ra84b7d83e11440be" /><Relationship Type="http://schemas.openxmlformats.org/officeDocument/2006/relationships/slide" Target="/ppt/slides/slide4.xml" Id="R7b2b7214e20b4dd4" /><Relationship Type="http://schemas.openxmlformats.org/officeDocument/2006/relationships/slide" Target="/ppt/slides/slide5.xml" Id="R4e3769555af74f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d617397e1949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f94d9c09294294" /><Relationship Type="http://schemas.openxmlformats.org/officeDocument/2006/relationships/notesMaster" Target="/ppt/notesMasters/notesMaster1.xml" Id="R210c3e11e5b94c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f8a3deb052455a" /><Relationship Type="http://schemas.openxmlformats.org/officeDocument/2006/relationships/notesMaster" Target="/ppt/notesMasters/notesMaster1.xml" Id="Rcbf6dde2acbd49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daef08e68e428a" /><Relationship Type="http://schemas.openxmlformats.org/officeDocument/2006/relationships/notesMaster" Target="/ppt/notesMasters/notesMaster1.xml" Id="R038e9ca38a244f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8d83bb6f1c468e" /><Relationship Type="http://schemas.openxmlformats.org/officeDocument/2006/relationships/notesMaster" Target="/ppt/notesMasters/notesMaster1.xml" Id="R480ea992f9eb48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86fea962954584" /><Relationship Type="http://schemas.openxmlformats.org/officeDocument/2006/relationships/notesMaster" Target="/ppt/notesMasters/notesMaster1.xml" Id="Ra882447784c843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55 seconds. We want to predict the change in food prices in Turkey next month. We will first use past food inflation. Then we will add exchange rates and global food prices. We will check whether these extra data help us make fewer mistakes. If they do not, our answer will be no. Food inflation means the percentage change in a food price index. An index tracks price changes across a group of goods. We have downloaded the data. We have not trained or tested prediction methods. The team will replace the name placeholders.</a:t>
            </a:r>
          </a:p>
          <a:p xmlns:a="http://schemas.openxmlformats.org/drawingml/2006/main">
            <a:r>
              <a:t/>
            </a:r>
          </a:p>
          <a:p xmlns:a="http://schemas.openxmlformats.org/drawingml/2006/main">
            <a:r>
              <a:t>Sources, checked on 14 October 2026. Turkish Statistical Institute food price index, downloaded through the Central Bank of Turkey data service, called EVDS. https://veriportali.tuik.gov.tr/tr/press/58289 and https://evds3.tcmb.gov.tr/ . The Central Bank also supplied the dollar-lira exchange rate. Its reuse terms require us to name the source. https://evds3.tcmb.gov.tr/igmevdsms-dis/documents/showDocument?docId=18 . Global food prices come from the Food and Agriculture Organization of the United Nations, called FAO. https://www.fao.org/worldfoodsituation/foodpricesindex/en/ . Its database terms use the Creative Commons Attribution 4.0 licence, unless a dataset states other terms. This licence lets people share and adapt data when they give credit and follow its terms. https://www.fao.org/contact-us/terms/db-terms-of-use/en/ . Our short English labels are our own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60 seconds. We downloaded three data files. Turkish food prices are a price index for food and drinks without alcohol. This index tracks changes across a group of goods. It is not a shop price in lira. The dollar-lira rate shows how many lira buy one United States dollar. Some days have no published rate. Global food prices are an index for food sold between countries. The global and Turkish indices cover different groups of goods.</a:t>
            </a:r>
          </a:p>
          <a:p xmlns:a="http://schemas.openxmlformats.org/drawingml/2006/main">
            <a:r>
              <a:t/>
            </a:r>
          </a:p>
          <a:p xmlns:a="http://schemas.openxmlformats.org/drawingml/2006/main">
            <a:r>
              <a:t>The table counts every row and column in the downloaded files. The counts include dates and source metadata. Metadata means extra information about the data. The Turkish file has five price index columns, the exchange rate file has one rate column, and the global file has six price index columns. The exchange rate file has 5,473 published values and 2,470 blank values across 7,943 daily rows. To make monthly data, we plan to average only the published daily rates. All three files cover January 2005 to September 2026. We will keep the source dates and check when each value became available.</a:t>
            </a:r>
          </a:p>
          <a:p xmlns:a="http://schemas.openxmlformats.org/drawingml/2006/main">
            <a:r>
              <a:t/>
            </a:r>
          </a:p>
          <a:p xmlns:a="http://schemas.openxmlformats.org/drawingml/2006/main">
            <a:r>
              <a:t>Sources, checked on 14 October 2026. Turkish Statistical Institute food price index, downloaded through the Central Bank of Turkey data service, called EVDS. https://veriportali.tuik.gov.tr/tr/press/58289 and https://evds3.tcmb.gov.tr/ . The Central Bank also supplied the dollar-lira exchange rate. Its reuse terms require us to name the source. https://evds3.tcmb.gov.tr/igmevdsms-dis/documents/showDocument?docId=18 . Global food prices come from the Food and Agriculture Organization of the United Nations, called FAO. https://www.fao.org/worldfoodsituation/foodpricesindex/en/ . Its database terms use the Creative Commons Attribution 4.0 licence, unless a dataset states other terms. This licence lets people share and adapt data when they give credit and follow its terms. https://www.fao.org/contact-us/terms/db-terms-of-use/en/ . Our short English labels are our own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65 seconds. The line shows all 260 monthly food price changes from February 2005 to September 2026. A value above zero means prices rose that month. A value below zero means prices fell. In December 2021, prices rose about 16% in one month. We calculated 15.983363042% from the downloaded price index. The lowest monthly change is about minus 6.56%.</a:t>
            </a:r>
          </a:p>
          <a:p xmlns:a="http://schemas.openxmlformats.org/drawingml/2006/main">
            <a:r>
              <a:t/>
            </a:r>
          </a:p>
          <a:p xmlns:a="http://schemas.openxmlformats.org/drawingml/2006/main">
            <a:r>
              <a:t>For each month, we divide its index by the previous month index, subtract one, and multiply by 100. The downloaded index values can be rounded, so our calculated rates can differ slightly from separately published rates. January 2005 has no previous month in our file, so the first change is for February 2005. The chart keeps all 260 changes, including negative and zero values. It uses editable text dates, such as Feb 2005. The horizontal axis shows one date about every four years to keep the labels clear. The data continue to September 2026. This chart shows past data. It does not test predictions or show what causes price changes.</a:t>
            </a:r>
          </a:p>
          <a:p xmlns:a="http://schemas.openxmlformats.org/drawingml/2006/main">
            <a:r>
              <a:t/>
            </a:r>
          </a:p>
          <a:p xmlns:a="http://schemas.openxmlformats.org/drawingml/2006/main">
            <a:r>
              <a:t>Source file: data/raw/turkish_food_cpi.csv. Overall food price index series: TP_TUKFIY2025_01.</a:t>
            </a:r>
          </a:p>
          <a:p xmlns:a="http://schemas.openxmlformats.org/drawingml/2006/main">
            <a:r>
              <a:t/>
            </a:r>
          </a:p>
          <a:p xmlns:a="http://schemas.openxmlformats.org/drawingml/2006/main">
            <a:r>
              <a:t>Sources, checked on 14 October 2026. Turkish Statistical Institute food price index, downloaded through the Central Bank of Turkey data service, called EVDS. https://veriportali.tuik.gov.tr/tr/press/58289 and https://evds3.tcmb.gov.tr/ . The Central Bank also supplied the dollar-lira exchange rate. Its reuse terms require us to name the source. https://evds3.tcmb.gov.tr/igmevdsms-dis/documents/showDocument?docId=18 . Global food prices come from the Food and Agriculture Organization of the United Nations, called FAO. https://www.fao.org/worldfoodsituation/foodpricesindex/en/ . Its database terms use the Creative Commons Attribution 4.0 licence, unless a dataset states other terms. This licence lets people share and adapt data when they give credit and follow its terms. https://www.fao.org/contact-us/terms/db-terms-of-use/en/ . Our short English labels are our own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first 20 seconds. We plan four comparisons. First, use food inflation in earlier months alone. Then add exchange-rate changes. Then add global food-price changes. Finally, add both.</a:t>
            </a:r>
          </a:p>
          <a:p xmlns:a="http://schemas.openxmlformats.org/drawingml/2006/main">
            <a:r>
              <a:t/>
            </a:r>
          </a:p>
          <a:p xmlns:a="http://schemas.openxmlformats.org/drawingml/2006/main">
            <a:r>
              <a:t>Member 3, next 70 seconds. For each method, we will make predictions for later months and compare them with the real price changes. We will measure how far the predictions are from the real values. A smaller average mistake means better predictions. We will use the same test months for all four comparisons. We have not chosen the exact dates or run these tests.</a:t>
            </a:r>
          </a:p>
          <a:p xmlns:a="http://schemas.openxmlformats.org/drawingml/2006/main">
            <a:r>
              <a:t/>
            </a:r>
          </a:p>
          <a:p xmlns:a="http://schemas.openxmlformats.org/drawingml/2006/main">
            <a:r>
              <a:t>The biggest risk is using a value before people could have known it. For example, to predict June, we will use only data available before June. A value labelled May might be published in June. We must check its publication date before we use it. We will write down these date rules and keep the original source dates. Better predictions would show that extra data help with this task. They would not prove that these data cause Turkish food prices to change.</a:t>
            </a:r>
          </a:p>
          <a:p xmlns:a="http://schemas.openxmlformats.org/drawingml/2006/main">
            <a:r>
              <a:t/>
            </a:r>
          </a:p>
          <a:p xmlns:a="http://schemas.openxmlformats.org/drawingml/2006/main">
            <a:r>
              <a:t>Sources, checked on 14 October 2026. Turkish Statistical Institute food price index, downloaded through the Central Bank of Turkey data service, called EVDS. https://veriportali.tuik.gov.tr/tr/press/58289 and https://evds3.tcmb.gov.tr/ . The Central Bank also supplied the dollar-lira exchange rate. Its reuse terms require us to name the source. https://evds3.tcmb.gov.tr/igmevdsms-dis/documents/showDocument?docId=18 . Global food prices come from the Food and Agriculture Organization of the United Nations, called FAO. https://www.fao.org/worldfoodsituation/foodpricesindex/en/ . Its database terms use the Creative Commons Attribution 4.0 licence, unless a dataset states other terms. This licence lets people share and adapt data when they give credit and follow its terms. https://www.fao.org/contact-us/terms/db-terms-of-use/en/ . Our short English labels are our own translations.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30 seconds. These are planned checkpoints. The work is not finished. Member 1 will prepare the data. Member 2 will make and explain the charts. Member 3 will build and test predictions. Everyone will check errors and limits, then finish the notebook and report. The team will fill in member names later. We will record any change to the question and explain why. We will also keep the course record of AI use. The speaking plan totals five minutes. Member 1 presents slides 1 and 2. Member 2 presents slide 3 and the first part of slide 4. Member 3 finishes slide 4 and presents slide 5.</a:t>
            </a:r>
          </a:p>
          <a:p xmlns:a="http://schemas.openxmlformats.org/drawingml/2006/main">
            <a:r>
              <a:t/>
            </a:r>
          </a:p>
          <a:p xmlns:a="http://schemas.openxmlformats.org/drawingml/2006/main">
            <a:r>
              <a:t>Course brief: handout/DSA101_Project_Proposal_Brief_2026Fall.pdf. The separate one-page proposal is due on 18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30df25a78340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4655e46c9341d4" /><Relationship Type="http://schemas.openxmlformats.org/officeDocument/2006/relationships/slideLayout" Target="/ppt/slideLayouts/slideLayout1.xml" Id="R6b7137642c3240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137642c3240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60d4eb6744452f" /><Relationship Type="http://schemas.openxmlformats.org/officeDocument/2006/relationships/notesSlide" Target="/ppt/notesSlides/notesSlide1.xml" Id="Rff46cff2608b4a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3347ef351e409f" /><Relationship Type="http://schemas.openxmlformats.org/officeDocument/2006/relationships/notesSlide" Target="/ppt/notesSlides/notesSlide2.xml" Id="Rc7cd5b8aa02548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0827b701af41a1" /><Relationship Type="http://schemas.openxmlformats.org/officeDocument/2006/relationships/chart" Target="/ppt/slides/charts/chart1.xml" Id="Rfa280f8662b7481b" /><Relationship Type="http://schemas.openxmlformats.org/officeDocument/2006/relationships/notesSlide" Target="/ppt/notesSlides/notesSlide3.xml" Id="R619890b209eb46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d9f540faf34f92" /><Relationship Type="http://schemas.openxmlformats.org/officeDocument/2006/relationships/notesSlide" Target="/ppt/notesSlides/notesSlide4.xml" Id="R2dd63e8a0b5545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35fabad47348ed" /><Relationship Type="http://schemas.openxmlformats.org/officeDocument/2006/relationships/notesSlide" Target="/ppt/notesSlides/notesSlide5.xml" Id="R3710094a628440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3150" b="1">
                <a:solidFill>
                  <a:srgbClr val="182C35"/>
                </a:solidFill>
                <a:latin typeface="Helvetica Neue"/>
                <a:ea typeface="Helvetica Neue"/>
                <a:cs typeface="Helvetica Neue"/>
              </a:rPr>
              <a:t>Monthly food inflation in Turkey</a:t>
            </a:r>
          </a:p>
        </c:rich>
      </c:tx>
      <c:overlay val="0"/>
      <c:txPr>
        <a:bodyPr xmlns:a="http://schemas.openxmlformats.org/drawingml/2006/main" anchorCtr="1"/>
        <a:lstStyle xmlns:a="http://schemas.openxmlformats.org/drawingml/2006/main"/>
        <a:p xmlns:a="http://schemas.openxmlformats.org/drawingml/2006/main">
          <a:pPr>
            <a:defRPr sz="3150" b="1">
              <a:solidFill>
                <a:srgbClr val="182C35"/>
              </a:solidFill>
              <a:latin typeface="Helvetica Neue"/>
              <a:ea typeface="Helvetica Neue"/>
              <a:cs typeface="Helvetica Neue"/>
            </a:defRPr>
          </a:pPr>
        </a:p>
      </c:txPr>
    </c:title>
    <c:plotArea>
      <c:lineChart>
        <c:grouping val="standard"/>
        <c:varyColors val="0"/>
        <c:ser>
          <c:idx val="0"/>
          <c:order val="0"/>
          <c:tx>
            <c:v>Monthly food inflation</c:v>
          </c:tx>
          <c:spPr>
            <a:ln xmlns:a="http://schemas.openxmlformats.org/drawingml/2006/main" w="23813">
              <a:solidFill>
                <a:srgbClr val="9D3B33"/>
              </a:solidFill>
            </a:ln>
          </c:spPr>
          <c:marker>
            <c:symbol val="none"/>
          </c:marker>
          <c:cat>
            <c:strRef>
              <c:f>'Chart Data'!$A$2:$A$261</c:f>
              <c:strCache>
                <c:ptCount val="260"/>
                <c:pt idx="0">
                  <c:v>Feb 2005</c:v>
                </c:pt>
                <c:pt idx="1">
                  <c:v>Mar 2005</c:v>
                </c:pt>
                <c:pt idx="2">
                  <c:v>Apr 2005</c:v>
                </c:pt>
                <c:pt idx="3">
                  <c:v>May 2005</c:v>
                </c:pt>
                <c:pt idx="4">
                  <c:v>Jun 2005</c:v>
                </c:pt>
                <c:pt idx="5">
                  <c:v>Jul 2005</c:v>
                </c:pt>
                <c:pt idx="6">
                  <c:v>Aug 2005</c:v>
                </c:pt>
                <c:pt idx="7">
                  <c:v>Sep 2005</c:v>
                </c:pt>
                <c:pt idx="8">
                  <c:v>Oct 2005</c:v>
                </c:pt>
                <c:pt idx="9">
                  <c:v>Nov 2005</c:v>
                </c:pt>
                <c:pt idx="10">
                  <c:v>Dec 2005</c:v>
                </c:pt>
                <c:pt idx="11">
                  <c:v>Jan 2006</c:v>
                </c:pt>
                <c:pt idx="12">
                  <c:v>Feb 2006</c:v>
                </c:pt>
                <c:pt idx="13">
                  <c:v>Mar 2006</c:v>
                </c:pt>
                <c:pt idx="14">
                  <c:v>Apr 2006</c:v>
                </c:pt>
                <c:pt idx="15">
                  <c:v>May 2006</c:v>
                </c:pt>
                <c:pt idx="16">
                  <c:v>Jun 2006</c:v>
                </c:pt>
                <c:pt idx="17">
                  <c:v>Jul 2006</c:v>
                </c:pt>
                <c:pt idx="18">
                  <c:v>Aug 2006</c:v>
                </c:pt>
                <c:pt idx="19">
                  <c:v>Sep 2006</c:v>
                </c:pt>
                <c:pt idx="20">
                  <c:v>Oct 2006</c:v>
                </c:pt>
                <c:pt idx="21">
                  <c:v>Nov 2006</c:v>
                </c:pt>
                <c:pt idx="22">
                  <c:v>Dec 2006</c:v>
                </c:pt>
                <c:pt idx="23">
                  <c:v>Jan 2007</c:v>
                </c:pt>
                <c:pt idx="24">
                  <c:v>Feb 2007</c:v>
                </c:pt>
                <c:pt idx="25">
                  <c:v>Mar 2007</c:v>
                </c:pt>
                <c:pt idx="26">
                  <c:v>Apr 2007</c:v>
                </c:pt>
                <c:pt idx="27">
                  <c:v>May 2007</c:v>
                </c:pt>
                <c:pt idx="28">
                  <c:v>Jun 2007</c:v>
                </c:pt>
                <c:pt idx="29">
                  <c:v>Jul 2007</c:v>
                </c:pt>
                <c:pt idx="30">
                  <c:v>Aug 2007</c:v>
                </c:pt>
                <c:pt idx="31">
                  <c:v>Sep 2007</c:v>
                </c:pt>
                <c:pt idx="32">
                  <c:v>Oct 2007</c:v>
                </c:pt>
                <c:pt idx="33">
                  <c:v>Nov 2007</c:v>
                </c:pt>
                <c:pt idx="34">
                  <c:v>Dec 2007</c:v>
                </c:pt>
                <c:pt idx="35">
                  <c:v>Jan 2008</c:v>
                </c:pt>
                <c:pt idx="36">
                  <c:v>Feb 2008</c:v>
                </c:pt>
                <c:pt idx="37">
                  <c:v>Mar 2008</c:v>
                </c:pt>
                <c:pt idx="38">
                  <c:v>Apr 2008</c:v>
                </c:pt>
                <c:pt idx="39">
                  <c:v>May 2008</c:v>
                </c:pt>
                <c:pt idx="40">
                  <c:v>Jun 2008</c:v>
                </c:pt>
                <c:pt idx="41">
                  <c:v>Jul 2008</c:v>
                </c:pt>
                <c:pt idx="42">
                  <c:v>Aug 2008</c:v>
                </c:pt>
                <c:pt idx="43">
                  <c:v>Sep 2008</c:v>
                </c:pt>
                <c:pt idx="44">
                  <c:v>Oct 2008</c:v>
                </c:pt>
                <c:pt idx="45">
                  <c:v>Nov 2008</c:v>
                </c:pt>
                <c:pt idx="46">
                  <c:v>Dec 2008</c:v>
                </c:pt>
                <c:pt idx="47">
                  <c:v>Jan 2009</c:v>
                </c:pt>
                <c:pt idx="48">
                  <c:v>Feb 2009</c:v>
                </c:pt>
                <c:pt idx="49">
                  <c:v>Mar 2009</c:v>
                </c:pt>
                <c:pt idx="50">
                  <c:v>Apr 2009</c:v>
                </c:pt>
                <c:pt idx="51">
                  <c:v>May 2009</c:v>
                </c:pt>
                <c:pt idx="52">
                  <c:v>Jun 2009</c:v>
                </c:pt>
                <c:pt idx="53">
                  <c:v>Jul 2009</c:v>
                </c:pt>
                <c:pt idx="54">
                  <c:v>Aug 2009</c:v>
                </c:pt>
                <c:pt idx="55">
                  <c:v>Sep 2009</c:v>
                </c:pt>
                <c:pt idx="56">
                  <c:v>Oct 2009</c:v>
                </c:pt>
                <c:pt idx="57">
                  <c:v>Nov 2009</c:v>
                </c:pt>
                <c:pt idx="58">
                  <c:v>Dec 2009</c:v>
                </c:pt>
                <c:pt idx="59">
                  <c:v>Jan 2010</c:v>
                </c:pt>
                <c:pt idx="60">
                  <c:v>Feb 2010</c:v>
                </c:pt>
                <c:pt idx="61">
                  <c:v>Mar 2010</c:v>
                </c:pt>
                <c:pt idx="62">
                  <c:v>Apr 2010</c:v>
                </c:pt>
                <c:pt idx="63">
                  <c:v>May 2010</c:v>
                </c:pt>
                <c:pt idx="64">
                  <c:v>Jun 2010</c:v>
                </c:pt>
                <c:pt idx="65">
                  <c:v>Jul 2010</c:v>
                </c:pt>
                <c:pt idx="66">
                  <c:v>Aug 2010</c:v>
                </c:pt>
                <c:pt idx="67">
                  <c:v>Sep 2010</c:v>
                </c:pt>
                <c:pt idx="68">
                  <c:v>Oct 2010</c:v>
                </c:pt>
                <c:pt idx="69">
                  <c:v>Nov 2010</c:v>
                </c:pt>
                <c:pt idx="70">
                  <c:v>Dec 2010</c:v>
                </c:pt>
                <c:pt idx="71">
                  <c:v>Jan 2011</c:v>
                </c:pt>
                <c:pt idx="72">
                  <c:v>Feb 2011</c:v>
                </c:pt>
                <c:pt idx="73">
                  <c:v>Mar 2011</c:v>
                </c:pt>
                <c:pt idx="74">
                  <c:v>Apr 2011</c:v>
                </c:pt>
                <c:pt idx="75">
                  <c:v>May 2011</c:v>
                </c:pt>
                <c:pt idx="76">
                  <c:v>Jun 2011</c:v>
                </c:pt>
                <c:pt idx="77">
                  <c:v>Jul 2011</c:v>
                </c:pt>
                <c:pt idx="78">
                  <c:v>Aug 2011</c:v>
                </c:pt>
                <c:pt idx="79">
                  <c:v>Sep 2011</c:v>
                </c:pt>
                <c:pt idx="80">
                  <c:v>Oct 2011</c:v>
                </c:pt>
                <c:pt idx="81">
                  <c:v>Nov 2011</c:v>
                </c:pt>
                <c:pt idx="82">
                  <c:v>Dec 2011</c:v>
                </c:pt>
                <c:pt idx="83">
                  <c:v>Jan 2012</c:v>
                </c:pt>
                <c:pt idx="84">
                  <c:v>Feb 2012</c:v>
                </c:pt>
                <c:pt idx="85">
                  <c:v>Mar 2012</c:v>
                </c:pt>
                <c:pt idx="86">
                  <c:v>Apr 2012</c:v>
                </c:pt>
                <c:pt idx="87">
                  <c:v>May 2012</c:v>
                </c:pt>
                <c:pt idx="88">
                  <c:v>Jun 2012</c:v>
                </c:pt>
                <c:pt idx="89">
                  <c:v>Jul 2012</c:v>
                </c:pt>
                <c:pt idx="90">
                  <c:v>Aug 2012</c:v>
                </c:pt>
                <c:pt idx="91">
                  <c:v>Sep 2012</c:v>
                </c:pt>
                <c:pt idx="92">
                  <c:v>Oct 2012</c:v>
                </c:pt>
                <c:pt idx="93">
                  <c:v>Nov 2012</c:v>
                </c:pt>
                <c:pt idx="94">
                  <c:v>Dec 2012</c:v>
                </c:pt>
                <c:pt idx="95">
                  <c:v>Jan 2013</c:v>
                </c:pt>
                <c:pt idx="96">
                  <c:v>Feb 2013</c:v>
                </c:pt>
                <c:pt idx="97">
                  <c:v>Mar 2013</c:v>
                </c:pt>
                <c:pt idx="98">
                  <c:v>Apr 2013</c:v>
                </c:pt>
                <c:pt idx="99">
                  <c:v>May 2013</c:v>
                </c:pt>
                <c:pt idx="100">
                  <c:v>Jun 2013</c:v>
                </c:pt>
                <c:pt idx="101">
                  <c:v>Jul 2013</c:v>
                </c:pt>
                <c:pt idx="102">
                  <c:v>Aug 2013</c:v>
                </c:pt>
                <c:pt idx="103">
                  <c:v>Sep 2013</c:v>
                </c:pt>
                <c:pt idx="104">
                  <c:v>Oct 2013</c:v>
                </c:pt>
                <c:pt idx="105">
                  <c:v>Nov 2013</c:v>
                </c:pt>
                <c:pt idx="106">
                  <c:v>Dec 2013</c:v>
                </c:pt>
                <c:pt idx="107">
                  <c:v>Jan 2014</c:v>
                </c:pt>
                <c:pt idx="108">
                  <c:v>Feb 2014</c:v>
                </c:pt>
                <c:pt idx="109">
                  <c:v>Mar 2014</c:v>
                </c:pt>
                <c:pt idx="110">
                  <c:v>Apr 2014</c:v>
                </c:pt>
                <c:pt idx="111">
                  <c:v>May 2014</c:v>
                </c:pt>
                <c:pt idx="112">
                  <c:v>Jun 2014</c:v>
                </c:pt>
                <c:pt idx="113">
                  <c:v>Jul 2014</c:v>
                </c:pt>
                <c:pt idx="114">
                  <c:v>Aug 2014</c:v>
                </c:pt>
                <c:pt idx="115">
                  <c:v>Sep 2014</c:v>
                </c:pt>
                <c:pt idx="116">
                  <c:v>Oct 2014</c:v>
                </c:pt>
                <c:pt idx="117">
                  <c:v>Nov 2014</c:v>
                </c:pt>
                <c:pt idx="118">
                  <c:v>Dec 2014</c:v>
                </c:pt>
                <c:pt idx="119">
                  <c:v>Jan 2015</c:v>
                </c:pt>
                <c:pt idx="120">
                  <c:v>Feb 2015</c:v>
                </c:pt>
                <c:pt idx="121">
                  <c:v>Mar 2015</c:v>
                </c:pt>
                <c:pt idx="122">
                  <c:v>Apr 2015</c:v>
                </c:pt>
                <c:pt idx="123">
                  <c:v>May 2015</c:v>
                </c:pt>
                <c:pt idx="124">
                  <c:v>Jun 2015</c:v>
                </c:pt>
                <c:pt idx="125">
                  <c:v>Jul 2015</c:v>
                </c:pt>
                <c:pt idx="126">
                  <c:v>Aug 2015</c:v>
                </c:pt>
                <c:pt idx="127">
                  <c:v>Sep 2015</c:v>
                </c:pt>
                <c:pt idx="128">
                  <c:v>Oct 2015</c:v>
                </c:pt>
                <c:pt idx="129">
                  <c:v>Nov 2015</c:v>
                </c:pt>
                <c:pt idx="130">
                  <c:v>Dec 2015</c:v>
                </c:pt>
                <c:pt idx="131">
                  <c:v>Jan 2016</c:v>
                </c:pt>
                <c:pt idx="132">
                  <c:v>Feb 2016</c:v>
                </c:pt>
                <c:pt idx="133">
                  <c:v>Mar 2016</c:v>
                </c:pt>
                <c:pt idx="134">
                  <c:v>Apr 2016</c:v>
                </c:pt>
                <c:pt idx="135">
                  <c:v>May 2016</c:v>
                </c:pt>
                <c:pt idx="136">
                  <c:v>Jun 2016</c:v>
                </c:pt>
                <c:pt idx="137">
                  <c:v>Jul 2016</c:v>
                </c:pt>
                <c:pt idx="138">
                  <c:v>Aug 2016</c:v>
                </c:pt>
                <c:pt idx="139">
                  <c:v>Sep 2016</c:v>
                </c:pt>
                <c:pt idx="140">
                  <c:v>Oct 2016</c:v>
                </c:pt>
                <c:pt idx="141">
                  <c:v>Nov 2016</c:v>
                </c:pt>
                <c:pt idx="142">
                  <c:v>Dec 2016</c:v>
                </c:pt>
                <c:pt idx="143">
                  <c:v>Jan 2017</c:v>
                </c:pt>
                <c:pt idx="144">
                  <c:v>Feb 2017</c:v>
                </c:pt>
                <c:pt idx="145">
                  <c:v>Mar 2017</c:v>
                </c:pt>
                <c:pt idx="146">
                  <c:v>Apr 2017</c:v>
                </c:pt>
                <c:pt idx="147">
                  <c:v>May 2017</c:v>
                </c:pt>
                <c:pt idx="148">
                  <c:v>Jun 2017</c:v>
                </c:pt>
                <c:pt idx="149">
                  <c:v>Jul 2017</c:v>
                </c:pt>
                <c:pt idx="150">
                  <c:v>Aug 2017</c:v>
                </c:pt>
                <c:pt idx="151">
                  <c:v>Sep 2017</c:v>
                </c:pt>
                <c:pt idx="152">
                  <c:v>Oct 2017</c:v>
                </c:pt>
                <c:pt idx="153">
                  <c:v>Nov 2017</c:v>
                </c:pt>
                <c:pt idx="154">
                  <c:v>Dec 2017</c:v>
                </c:pt>
                <c:pt idx="155">
                  <c:v>Jan 2018</c:v>
                </c:pt>
                <c:pt idx="156">
                  <c:v>Feb 2018</c:v>
                </c:pt>
                <c:pt idx="157">
                  <c:v>Mar 2018</c:v>
                </c:pt>
                <c:pt idx="158">
                  <c:v>Apr 2018</c:v>
                </c:pt>
                <c:pt idx="159">
                  <c:v>May 2018</c:v>
                </c:pt>
                <c:pt idx="160">
                  <c:v>Jun 2018</c:v>
                </c:pt>
                <c:pt idx="161">
                  <c:v>Jul 2018</c:v>
                </c:pt>
                <c:pt idx="162">
                  <c:v>Aug 2018</c:v>
                </c:pt>
                <c:pt idx="163">
                  <c:v>Sep 2018</c:v>
                </c:pt>
                <c:pt idx="164">
                  <c:v>Oct 2018</c:v>
                </c:pt>
                <c:pt idx="165">
                  <c:v>Nov 2018</c:v>
                </c:pt>
                <c:pt idx="166">
                  <c:v>Dec 2018</c:v>
                </c:pt>
                <c:pt idx="167">
                  <c:v>Jan 2019</c:v>
                </c:pt>
                <c:pt idx="168">
                  <c:v>Feb 2019</c:v>
                </c:pt>
                <c:pt idx="169">
                  <c:v>Mar 2019</c:v>
                </c:pt>
                <c:pt idx="170">
                  <c:v>Apr 2019</c:v>
                </c:pt>
                <c:pt idx="171">
                  <c:v>May 2019</c:v>
                </c:pt>
                <c:pt idx="172">
                  <c:v>Jun 2019</c:v>
                </c:pt>
                <c:pt idx="173">
                  <c:v>Jul 2019</c:v>
                </c:pt>
                <c:pt idx="174">
                  <c:v>Aug 2019</c:v>
                </c:pt>
                <c:pt idx="175">
                  <c:v>Sep 2019</c:v>
                </c:pt>
                <c:pt idx="176">
                  <c:v>Oct 2019</c:v>
                </c:pt>
                <c:pt idx="177">
                  <c:v>Nov 2019</c:v>
                </c:pt>
                <c:pt idx="178">
                  <c:v>Dec 2019</c:v>
                </c:pt>
                <c:pt idx="179">
                  <c:v>Jan 2020</c:v>
                </c:pt>
                <c:pt idx="180">
                  <c:v>Feb 2020</c:v>
                </c:pt>
                <c:pt idx="181">
                  <c:v>Mar 2020</c:v>
                </c:pt>
                <c:pt idx="182">
                  <c:v>Apr 2020</c:v>
                </c:pt>
                <c:pt idx="183">
                  <c:v>May 2020</c:v>
                </c:pt>
                <c:pt idx="184">
                  <c:v>Jun 2020</c:v>
                </c:pt>
                <c:pt idx="185">
                  <c:v>Jul 2020</c:v>
                </c:pt>
                <c:pt idx="186">
                  <c:v>Aug 2020</c:v>
                </c:pt>
                <c:pt idx="187">
                  <c:v>Sep 2020</c:v>
                </c:pt>
                <c:pt idx="188">
                  <c:v>Oct 2020</c:v>
                </c:pt>
                <c:pt idx="189">
                  <c:v>Nov 2020</c:v>
                </c:pt>
                <c:pt idx="190">
                  <c:v>Dec 2020</c:v>
                </c:pt>
                <c:pt idx="191">
                  <c:v>Jan 2021</c:v>
                </c:pt>
                <c:pt idx="192">
                  <c:v>Feb 2021</c:v>
                </c:pt>
                <c:pt idx="193">
                  <c:v>Mar 2021</c:v>
                </c:pt>
                <c:pt idx="194">
                  <c:v>Apr 2021</c:v>
                </c:pt>
                <c:pt idx="195">
                  <c:v>May 2021</c:v>
                </c:pt>
                <c:pt idx="196">
                  <c:v>Jun 2021</c:v>
                </c:pt>
                <c:pt idx="197">
                  <c:v>Jul 2021</c:v>
                </c:pt>
                <c:pt idx="198">
                  <c:v>Aug 2021</c:v>
                </c:pt>
                <c:pt idx="199">
                  <c:v>Sep 2021</c:v>
                </c:pt>
                <c:pt idx="200">
                  <c:v>Oct 2021</c:v>
                </c:pt>
                <c:pt idx="201">
                  <c:v>Nov 2021</c:v>
                </c:pt>
                <c:pt idx="202">
                  <c:v>Dec 2021</c:v>
                </c:pt>
                <c:pt idx="203">
                  <c:v>Jan 2022</c:v>
                </c:pt>
                <c:pt idx="204">
                  <c:v>Feb 2022</c:v>
                </c:pt>
                <c:pt idx="205">
                  <c:v>Mar 2022</c:v>
                </c:pt>
                <c:pt idx="206">
                  <c:v>Apr 2022</c:v>
                </c:pt>
                <c:pt idx="207">
                  <c:v>May 2022</c:v>
                </c:pt>
                <c:pt idx="208">
                  <c:v>Jun 2022</c:v>
                </c:pt>
                <c:pt idx="209">
                  <c:v>Jul 2022</c:v>
                </c:pt>
                <c:pt idx="210">
                  <c:v>Aug 2022</c:v>
                </c:pt>
                <c:pt idx="211">
                  <c:v>Sep 2022</c:v>
                </c:pt>
                <c:pt idx="212">
                  <c:v>Oct 2022</c:v>
                </c:pt>
                <c:pt idx="213">
                  <c:v>Nov 2022</c:v>
                </c:pt>
                <c:pt idx="214">
                  <c:v>Dec 2022</c:v>
                </c:pt>
                <c:pt idx="215">
                  <c:v>Jan 2023</c:v>
                </c:pt>
                <c:pt idx="216">
                  <c:v>Feb 2023</c:v>
                </c:pt>
                <c:pt idx="217">
                  <c:v>Mar 2023</c:v>
                </c:pt>
                <c:pt idx="218">
                  <c:v>Apr 2023</c:v>
                </c:pt>
                <c:pt idx="219">
                  <c:v>May 2023</c:v>
                </c:pt>
                <c:pt idx="220">
                  <c:v>Jun 2023</c:v>
                </c:pt>
                <c:pt idx="221">
                  <c:v>Jul 2023</c:v>
                </c:pt>
                <c:pt idx="222">
                  <c:v>Aug 2023</c:v>
                </c:pt>
                <c:pt idx="223">
                  <c:v>Sep 2023</c:v>
                </c:pt>
                <c:pt idx="224">
                  <c:v>Oct 2023</c:v>
                </c:pt>
                <c:pt idx="225">
                  <c:v>Nov 2023</c:v>
                </c:pt>
                <c:pt idx="226">
                  <c:v>Dec 2023</c:v>
                </c:pt>
                <c:pt idx="227">
                  <c:v>Jan 2024</c:v>
                </c:pt>
                <c:pt idx="228">
                  <c:v>Feb 2024</c:v>
                </c:pt>
                <c:pt idx="229">
                  <c:v>Mar 2024</c:v>
                </c:pt>
                <c:pt idx="230">
                  <c:v>Apr 2024</c:v>
                </c:pt>
                <c:pt idx="231">
                  <c:v>May 2024</c:v>
                </c:pt>
                <c:pt idx="232">
                  <c:v>Jun 2024</c:v>
                </c:pt>
                <c:pt idx="233">
                  <c:v>Jul 2024</c:v>
                </c:pt>
                <c:pt idx="234">
                  <c:v>Aug 2024</c:v>
                </c:pt>
                <c:pt idx="235">
                  <c:v>Sep 2024</c:v>
                </c:pt>
                <c:pt idx="236">
                  <c:v>Oct 2024</c:v>
                </c:pt>
                <c:pt idx="237">
                  <c:v>Nov 2024</c:v>
                </c:pt>
                <c:pt idx="238">
                  <c:v>Dec 2024</c:v>
                </c:pt>
                <c:pt idx="239">
                  <c:v>Jan 2025</c:v>
                </c:pt>
                <c:pt idx="240">
                  <c:v>Feb 2025</c:v>
                </c:pt>
                <c:pt idx="241">
                  <c:v>Mar 2025</c:v>
                </c:pt>
                <c:pt idx="242">
                  <c:v>Apr 2025</c:v>
                </c:pt>
                <c:pt idx="243">
                  <c:v>May 2025</c:v>
                </c:pt>
                <c:pt idx="244">
                  <c:v>Jun 2025</c:v>
                </c:pt>
                <c:pt idx="245">
                  <c:v>Jul 2025</c:v>
                </c:pt>
                <c:pt idx="246">
                  <c:v>Aug 2025</c:v>
                </c:pt>
                <c:pt idx="247">
                  <c:v>Sep 2025</c:v>
                </c:pt>
                <c:pt idx="248">
                  <c:v>Oct 2025</c:v>
                </c:pt>
                <c:pt idx="249">
                  <c:v>Nov 2025</c:v>
                </c:pt>
                <c:pt idx="250">
                  <c:v>Dec 2025</c:v>
                </c:pt>
                <c:pt idx="251">
                  <c:v>Jan 2026</c:v>
                </c:pt>
                <c:pt idx="252">
                  <c:v>Feb 2026</c:v>
                </c:pt>
                <c:pt idx="253">
                  <c:v>Mar 2026</c:v>
                </c:pt>
                <c:pt idx="254">
                  <c:v>Apr 2026</c:v>
                </c:pt>
                <c:pt idx="255">
                  <c:v>May 2026</c:v>
                </c:pt>
                <c:pt idx="256">
                  <c:v>Jun 2026</c:v>
                </c:pt>
                <c:pt idx="257">
                  <c:v>Jul 2026</c:v>
                </c:pt>
                <c:pt idx="258">
                  <c:v>Aug 2026</c:v>
                </c:pt>
                <c:pt idx="259">
                  <c:v>Sep 2026</c:v>
                </c:pt>
              </c:strCache>
            </c:strRef>
          </c:cat>
          <c:val>
            <c:numRef>
              <c:f>'Chart Data'!$B$2:$B$261</c:f>
              <c:numCache>
                <c:formatCode>0.0%</c:formatCode>
                <c:ptCount val="260"/>
                <c:pt idx="0">
                  <c:v>0.008</c:v>
                </c:pt>
                <c:pt idx="1">
                  <c:v>0</c:v>
                </c:pt>
                <c:pt idx="2">
                  <c:v>-0.0079365079</c:v>
                </c:pt>
                <c:pt idx="3">
                  <c:v>0</c:v>
                </c:pt>
                <c:pt idx="4">
                  <c:v>-0.016</c:v>
                </c:pt>
                <c:pt idx="5">
                  <c:v>-0.012195122</c:v>
                </c:pt>
                <c:pt idx="6">
                  <c:v>0</c:v>
                </c:pt>
                <c:pt idx="7">
                  <c:v>0.012345679</c:v>
                </c:pt>
                <c:pt idx="8">
                  <c:v>0.0243902439</c:v>
                </c:pt>
                <c:pt idx="9">
                  <c:v>0.0317460317</c:v>
                </c:pt>
                <c:pt idx="10">
                  <c:v>-0.0038461538</c:v>
                </c:pt>
                <c:pt idx="11">
                  <c:v>0.0115830116</c:v>
                </c:pt>
                <c:pt idx="12">
                  <c:v>0.0267175573</c:v>
                </c:pt>
                <c:pt idx="13">
                  <c:v>0.0111524164</c:v>
                </c:pt>
                <c:pt idx="14">
                  <c:v>0.0073529412</c:v>
                </c:pt>
                <c:pt idx="15">
                  <c:v>0.0072992701</c:v>
                </c:pt>
                <c:pt idx="16">
                  <c:v>-0.0289855072</c:v>
                </c:pt>
                <c:pt idx="17">
                  <c:v>0.0149253731</c:v>
                </c:pt>
                <c:pt idx="18">
                  <c:v>-0.0110294118</c:v>
                </c:pt>
                <c:pt idx="19">
                  <c:v>0.029739777</c:v>
                </c:pt>
                <c:pt idx="20">
                  <c:v>0.0072202166</c:v>
                </c:pt>
                <c:pt idx="21">
                  <c:v>0.0250896057</c:v>
                </c:pt>
                <c:pt idx="22">
                  <c:v>0.006993007</c:v>
                </c:pt>
                <c:pt idx="23">
                  <c:v>0.0451388889</c:v>
                </c:pt>
                <c:pt idx="24">
                  <c:v>0.0166112957</c:v>
                </c:pt>
                <c:pt idx="25">
                  <c:v>0.0065359477</c:v>
                </c:pt>
                <c:pt idx="26">
                  <c:v>0.0064935065</c:v>
                </c:pt>
                <c:pt idx="27">
                  <c:v>-0.0161290323</c:v>
                </c:pt>
                <c:pt idx="28">
                  <c:v>-0.0196721311</c:v>
                </c:pt>
                <c:pt idx="29">
                  <c:v>-0.0066889632</c:v>
                </c:pt>
                <c:pt idx="30">
                  <c:v>0.0168350168</c:v>
                </c:pt>
                <c:pt idx="31">
                  <c:v>0.0231788079</c:v>
                </c:pt>
                <c:pt idx="32">
                  <c:v>0.0355987055</c:v>
                </c:pt>
                <c:pt idx="33">
                  <c:v>0.00625</c:v>
                </c:pt>
                <c:pt idx="34">
                  <c:v>0.0031055901</c:v>
                </c:pt>
                <c:pt idx="35">
                  <c:v>0.0185758514</c:v>
                </c:pt>
                <c:pt idx="36">
                  <c:v>0.0486322188</c:v>
                </c:pt>
                <c:pt idx="37">
                  <c:v>0.0115942029</c:v>
                </c:pt>
                <c:pt idx="38">
                  <c:v>0.0085959885</c:v>
                </c:pt>
                <c:pt idx="39">
                  <c:v>0.0028409091</c:v>
                </c:pt>
                <c:pt idx="40">
                  <c:v>-0.0339943343</c:v>
                </c:pt>
                <c:pt idx="41">
                  <c:v>0.0058651026</c:v>
                </c:pt>
                <c:pt idx="42">
                  <c:v>0</c:v>
                </c:pt>
                <c:pt idx="43">
                  <c:v>0</c:v>
                </c:pt>
                <c:pt idx="44">
                  <c:v>0.0408163265</c:v>
                </c:pt>
                <c:pt idx="45">
                  <c:v>0.0056022409</c:v>
                </c:pt>
                <c:pt idx="46">
                  <c:v>0.0055710306</c:v>
                </c:pt>
                <c:pt idx="47">
                  <c:v>0.0138504155</c:v>
                </c:pt>
                <c:pt idx="48">
                  <c:v>0</c:v>
                </c:pt>
                <c:pt idx="49">
                  <c:v>0.0409836066</c:v>
                </c:pt>
                <c:pt idx="50">
                  <c:v>-0.0052493438</c:v>
                </c:pt>
                <c:pt idx="51">
                  <c:v>0.0026385224</c:v>
                </c:pt>
                <c:pt idx="52">
                  <c:v>-0.0157894737</c:v>
                </c:pt>
                <c:pt idx="53">
                  <c:v>-0.0053475936</c:v>
                </c:pt>
                <c:pt idx="54">
                  <c:v>-0.0161290323</c:v>
                </c:pt>
                <c:pt idx="55">
                  <c:v>0.0027322404</c:v>
                </c:pt>
                <c:pt idx="56">
                  <c:v>0.029972752</c:v>
                </c:pt>
                <c:pt idx="57">
                  <c:v>0.0211640212</c:v>
                </c:pt>
                <c:pt idx="58">
                  <c:v>0.0233160622</c:v>
                </c:pt>
                <c:pt idx="59">
                  <c:v>0.0151898734</c:v>
                </c:pt>
                <c:pt idx="60">
                  <c:v>0.0498753117</c:v>
                </c:pt>
                <c:pt idx="61">
                  <c:v>0.0047505938</c:v>
                </c:pt>
                <c:pt idx="62">
                  <c:v>0.0023640662</c:v>
                </c:pt>
                <c:pt idx="63">
                  <c:v>-0.0448113208</c:v>
                </c:pt>
                <c:pt idx="64">
                  <c:v>-0.024691358</c:v>
                </c:pt>
                <c:pt idx="65">
                  <c:v>-0.0075949367</c:v>
                </c:pt>
                <c:pt idx="66">
                  <c:v>0.0306122449</c:v>
                </c:pt>
                <c:pt idx="67">
                  <c:v>0.047029703</c:v>
                </c:pt>
                <c:pt idx="68">
                  <c:v>0.0449172577</c:v>
                </c:pt>
                <c:pt idx="69">
                  <c:v>-0.0180995475</c:v>
                </c:pt>
                <c:pt idx="70">
                  <c:v>-0.0276497696</c:v>
                </c:pt>
                <c:pt idx="71">
                  <c:v>0.0165876777</c:v>
                </c:pt>
                <c:pt idx="72">
                  <c:v>0.0256410256</c:v>
                </c:pt>
                <c:pt idx="73">
                  <c:v>-0.0045454545</c:v>
                </c:pt>
                <c:pt idx="74">
                  <c:v>-0.00456621</c:v>
                </c:pt>
                <c:pt idx="75">
                  <c:v>0.0481651376</c:v>
                </c:pt>
                <c:pt idx="76">
                  <c:v>-0.0656455142</c:v>
                </c:pt>
                <c:pt idx="77">
                  <c:v>-0.0117096019</c:v>
                </c:pt>
                <c:pt idx="78">
                  <c:v>0.0142180095</c:v>
                </c:pt>
                <c:pt idx="79">
                  <c:v>0.0093457944</c:v>
                </c:pt>
                <c:pt idx="80">
                  <c:v>0.0416666667</c:v>
                </c:pt>
                <c:pt idx="81">
                  <c:v>0.0333333333</c:v>
                </c:pt>
                <c:pt idx="82">
                  <c:v>0.0193548387</c:v>
                </c:pt>
                <c:pt idx="83">
                  <c:v>0.0105485232</c:v>
                </c:pt>
                <c:pt idx="84">
                  <c:v>0.0208768267</c:v>
                </c:pt>
                <c:pt idx="85">
                  <c:v>-0.0040899796</c:v>
                </c:pt>
                <c:pt idx="86">
                  <c:v>0</c:v>
                </c:pt>
                <c:pt idx="87">
                  <c:v>-0.0246406571</c:v>
                </c:pt>
                <c:pt idx="88">
                  <c:v>-0.0336842105</c:v>
                </c:pt>
                <c:pt idx="89">
                  <c:v>0.0043572985</c:v>
                </c:pt>
                <c:pt idx="90">
                  <c:v>0.0130151844</c:v>
                </c:pt>
                <c:pt idx="91">
                  <c:v>0.0214132762</c:v>
                </c:pt>
                <c:pt idx="92">
                  <c:v>0.0167714885</c:v>
                </c:pt>
                <c:pt idx="93">
                  <c:v>0</c:v>
                </c:pt>
                <c:pt idx="94">
                  <c:v>0.0144329897</c:v>
                </c:pt>
                <c:pt idx="95">
                  <c:v>0.0406504065</c:v>
                </c:pt>
                <c:pt idx="96">
                  <c:v>0.0078125</c:v>
                </c:pt>
                <c:pt idx="97">
                  <c:v>0.0213178295</c:v>
                </c:pt>
                <c:pt idx="98">
                  <c:v>-0.0132827324</c:v>
                </c:pt>
                <c:pt idx="99">
                  <c:v>-0.0211538462</c:v>
                </c:pt>
                <c:pt idx="100">
                  <c:v>0.0176817289</c:v>
                </c:pt>
                <c:pt idx="101">
                  <c:v>0.0019305019</c:v>
                </c:pt>
                <c:pt idx="102">
                  <c:v>-0.0077071291</c:v>
                </c:pt>
                <c:pt idx="103">
                  <c:v>0.0077669903</c:v>
                </c:pt>
                <c:pt idx="104">
                  <c:v>0.0385356455</c:v>
                </c:pt>
                <c:pt idx="105">
                  <c:v>-0.012987013</c:v>
                </c:pt>
                <c:pt idx="106">
                  <c:v>0.015037594</c:v>
                </c:pt>
                <c:pt idx="107">
                  <c:v>0.0518518519</c:v>
                </c:pt>
                <c:pt idx="108">
                  <c:v>0</c:v>
                </c:pt>
                <c:pt idx="109">
                  <c:v>0.0211267606</c:v>
                </c:pt>
                <c:pt idx="110">
                  <c:v>0.0137931034</c:v>
                </c:pt>
                <c:pt idx="111">
                  <c:v>-0.0119047619</c:v>
                </c:pt>
                <c:pt idx="112">
                  <c:v>0.0034423408</c:v>
                </c:pt>
                <c:pt idx="113">
                  <c:v>0.0017152659</c:v>
                </c:pt>
                <c:pt idx="114">
                  <c:v>0.0102739726</c:v>
                </c:pt>
                <c:pt idx="115">
                  <c:v>0.0016949153</c:v>
                </c:pt>
                <c:pt idx="116">
                  <c:v>0.027072758</c:v>
                </c:pt>
                <c:pt idx="117">
                  <c:v>0.0016474465</c:v>
                </c:pt>
                <c:pt idx="118">
                  <c:v>0.0016447368</c:v>
                </c:pt>
                <c:pt idx="119">
                  <c:v>0.0344827586</c:v>
                </c:pt>
                <c:pt idx="120">
                  <c:v>0.0253968254</c:v>
                </c:pt>
                <c:pt idx="121">
                  <c:v>0.0247678019</c:v>
                </c:pt>
                <c:pt idx="122">
                  <c:v>0.0166163142</c:v>
                </c:pt>
                <c:pt idx="123">
                  <c:v>-0.0267459138</c:v>
                </c:pt>
                <c:pt idx="124">
                  <c:v>-0.027480916</c:v>
                </c:pt>
                <c:pt idx="125">
                  <c:v>0.0015698587</c:v>
                </c:pt>
                <c:pt idx="126">
                  <c:v>0.0141065831</c:v>
                </c:pt>
                <c:pt idx="127">
                  <c:v>0.0123647604</c:v>
                </c:pt>
                <c:pt idx="128">
                  <c:v>0.0076335878</c:v>
                </c:pt>
                <c:pt idx="129">
                  <c:v>0.0090909091</c:v>
                </c:pt>
                <c:pt idx="130">
                  <c:v>0.0135135135</c:v>
                </c:pt>
                <c:pt idx="131">
                  <c:v>0.042962963</c:v>
                </c:pt>
                <c:pt idx="132">
                  <c:v>-0.0014204545</c:v>
                </c:pt>
                <c:pt idx="133">
                  <c:v>-0.0142247511</c:v>
                </c:pt>
                <c:pt idx="134">
                  <c:v>-0.0158730159</c:v>
                </c:pt>
                <c:pt idx="135">
                  <c:v>-0.0161290323</c:v>
                </c:pt>
                <c:pt idx="136">
                  <c:v>0.0119225037</c:v>
                </c:pt>
                <c:pt idx="137">
                  <c:v>0.0309278351</c:v>
                </c:pt>
                <c:pt idx="138">
                  <c:v>-0.0185714286</c:v>
                </c:pt>
                <c:pt idx="139">
                  <c:v>-0.0072780204</c:v>
                </c:pt>
                <c:pt idx="140">
                  <c:v>0.0175953079</c:v>
                </c:pt>
                <c:pt idx="141">
                  <c:v>-0.0057636888</c:v>
                </c:pt>
                <c:pt idx="142">
                  <c:v>0.0333333333</c:v>
                </c:pt>
                <c:pt idx="143">
                  <c:v>0.0631136045</c:v>
                </c:pt>
                <c:pt idx="144">
                  <c:v>0.0092348285</c:v>
                </c:pt>
                <c:pt idx="145">
                  <c:v>0.0183006536</c:v>
                </c:pt>
                <c:pt idx="146">
                  <c:v>0.0128369705</c:v>
                </c:pt>
                <c:pt idx="147">
                  <c:v>-0.0050697085</c:v>
                </c:pt>
                <c:pt idx="148">
                  <c:v>-0.0114649682</c:v>
                </c:pt>
                <c:pt idx="149">
                  <c:v>-0.006443299</c:v>
                </c:pt>
                <c:pt idx="150">
                  <c:v>-0.0025940337</c:v>
                </c:pt>
                <c:pt idx="151">
                  <c:v>-0.0026007802</c:v>
                </c:pt>
                <c:pt idx="152">
                  <c:v>0.0195567145</c:v>
                </c:pt>
                <c:pt idx="153">
                  <c:v>0.0217391304</c:v>
                </c:pt>
                <c:pt idx="154">
                  <c:v>0.0150187735</c:v>
                </c:pt>
                <c:pt idx="155">
                  <c:v>0.0172626387</c:v>
                </c:pt>
                <c:pt idx="156">
                  <c:v>0.0218181818</c:v>
                </c:pt>
                <c:pt idx="157">
                  <c:v>0.0201660735</c:v>
                </c:pt>
                <c:pt idx="158">
                  <c:v>-0.0023255814</c:v>
                </c:pt>
                <c:pt idx="159">
                  <c:v>0.0151515152</c:v>
                </c:pt>
                <c:pt idx="160">
                  <c:v>0.0597014925</c:v>
                </c:pt>
                <c:pt idx="161">
                  <c:v>-0.0032502709</c:v>
                </c:pt>
                <c:pt idx="162">
                  <c:v>0.0010869565</c:v>
                </c:pt>
                <c:pt idx="163">
                  <c:v>0.0640608035</c:v>
                </c:pt>
                <c:pt idx="164">
                  <c:v>0.0316326531</c:v>
                </c:pt>
                <c:pt idx="165">
                  <c:v>-0.0069238378</c:v>
                </c:pt>
                <c:pt idx="166">
                  <c:v>0.0109561753</c:v>
                </c:pt>
                <c:pt idx="167">
                  <c:v>0.0640394089</c:v>
                </c:pt>
                <c:pt idx="168">
                  <c:v>0.0092592593</c:v>
                </c:pt>
                <c:pt idx="169">
                  <c:v>0.023853211</c:v>
                </c:pt>
                <c:pt idx="170">
                  <c:v>0.0143369176</c:v>
                </c:pt>
                <c:pt idx="171">
                  <c:v>-0.0114840989</c:v>
                </c:pt>
                <c:pt idx="172">
                  <c:v>-0.0169794459</c:v>
                </c:pt>
                <c:pt idx="173">
                  <c:v>-0.0109090909</c:v>
                </c:pt>
                <c:pt idx="174">
                  <c:v>-0.0073529412</c:v>
                </c:pt>
                <c:pt idx="175">
                  <c:v>-0.0064814815</c:v>
                </c:pt>
                <c:pt idx="176">
                  <c:v>0.0167753961</c:v>
                </c:pt>
                <c:pt idx="177">
                  <c:v>0.0018331806</c:v>
                </c:pt>
                <c:pt idx="178">
                  <c:v>0.0292772187</c:v>
                </c:pt>
                <c:pt idx="179">
                  <c:v>0.0471111111</c:v>
                </c:pt>
                <c:pt idx="180">
                  <c:v>0.0229202037</c:v>
                </c:pt>
                <c:pt idx="181">
                  <c:v>0.0190871369</c:v>
                </c:pt>
                <c:pt idx="182">
                  <c:v>0.0260586319</c:v>
                </c:pt>
                <c:pt idx="183">
                  <c:v>0.0023809524</c:v>
                </c:pt>
                <c:pt idx="184">
                  <c:v>-0.0166270784</c:v>
                </c:pt>
                <c:pt idx="185">
                  <c:v>-0.0128824477</c:v>
                </c:pt>
                <c:pt idx="186">
                  <c:v>-0.0008156607</c:v>
                </c:pt>
                <c:pt idx="187">
                  <c:v>0.0065306122</c:v>
                </c:pt>
                <c:pt idx="188">
                  <c:v>0.0308191403</c:v>
                </c:pt>
                <c:pt idx="189">
                  <c:v>0.0416994493</c:v>
                </c:pt>
                <c:pt idx="190">
                  <c:v>0.0249244713</c:v>
                </c:pt>
                <c:pt idx="191">
                  <c:v>0.025055269</c:v>
                </c:pt>
                <c:pt idx="192">
                  <c:v>0.0258806614</c:v>
                </c:pt>
                <c:pt idx="193">
                  <c:v>0.0112123336</c:v>
                </c:pt>
                <c:pt idx="194">
                  <c:v>0.0207900208</c:v>
                </c:pt>
                <c:pt idx="195">
                  <c:v>0.0033944331</c:v>
                </c:pt>
                <c:pt idx="196">
                  <c:v>0.0087956698</c:v>
                </c:pt>
                <c:pt idx="197">
                  <c:v>0.0274983233</c:v>
                </c:pt>
                <c:pt idx="198">
                  <c:v>0.0319843342</c:v>
                </c:pt>
                <c:pt idx="199">
                  <c:v>0.0050600886</c:v>
                </c:pt>
                <c:pt idx="200">
                  <c:v>0.0188797986</c:v>
                </c:pt>
                <c:pt idx="201">
                  <c:v>0.0395305744</c:v>
                </c:pt>
                <c:pt idx="202">
                  <c:v>0.1598336304</c:v>
                </c:pt>
                <c:pt idx="203">
                  <c:v>0.1086065574</c:v>
                </c:pt>
                <c:pt idx="204">
                  <c:v>0.084103512</c:v>
                </c:pt>
                <c:pt idx="205">
                  <c:v>0.047314578</c:v>
                </c:pt>
                <c:pt idx="206">
                  <c:v>0.1339031339</c:v>
                </c:pt>
                <c:pt idx="207">
                  <c:v>0.0165111271</c:v>
                </c:pt>
                <c:pt idx="208">
                  <c:v>0.0208333333</c:v>
                </c:pt>
                <c:pt idx="209">
                  <c:v>0.0314769976</c:v>
                </c:pt>
                <c:pt idx="210">
                  <c:v>0.0083836351</c:v>
                </c:pt>
                <c:pt idx="211">
                  <c:v>0.019953442</c:v>
                </c:pt>
                <c:pt idx="212">
                  <c:v>0.0508640365</c:v>
                </c:pt>
                <c:pt idx="213">
                  <c:v>0.0573999379</c:v>
                </c:pt>
                <c:pt idx="214">
                  <c:v>0.0184859155</c:v>
                </c:pt>
                <c:pt idx="215">
                  <c:v>0.0662633247</c:v>
                </c:pt>
                <c:pt idx="216">
                  <c:v>0.0734936504</c:v>
                </c:pt>
                <c:pt idx="217">
                  <c:v>0.0385099421</c:v>
                </c:pt>
                <c:pt idx="218">
                  <c:v>0.0392632089</c:v>
                </c:pt>
                <c:pt idx="219">
                  <c:v>0.0072294776</c:v>
                </c:pt>
                <c:pt idx="220">
                  <c:v>0.0303310952</c:v>
                </c:pt>
                <c:pt idx="221">
                  <c:v>0.0768539326</c:v>
                </c:pt>
                <c:pt idx="222">
                  <c:v>0.084933222</c:v>
                </c:pt>
                <c:pt idx="223">
                  <c:v>0.0330832852</c:v>
                </c:pt>
                <c:pt idx="224">
                  <c:v>0.0320238317</c:v>
                </c:pt>
                <c:pt idx="225">
                  <c:v>0.0277827891</c:v>
                </c:pt>
                <c:pt idx="226">
                  <c:v>0.0480954889</c:v>
                </c:pt>
                <c:pt idx="227">
                  <c:v>0.0519176017</c:v>
                </c:pt>
                <c:pt idx="228">
                  <c:v>0.0824709441</c:v>
                </c:pt>
                <c:pt idx="229">
                  <c:v>0.0339755846</c:v>
                </c:pt>
                <c:pt idx="230">
                  <c:v>0.0278805121</c:v>
                </c:pt>
                <c:pt idx="231">
                  <c:v>0.0168834763</c:v>
                </c:pt>
                <c:pt idx="232">
                  <c:v>0.0178279804</c:v>
                </c:pt>
                <c:pt idx="233">
                  <c:v>0.0183179569</c:v>
                </c:pt>
                <c:pt idx="234">
                  <c:v>-0.0110294118</c:v>
                </c:pt>
                <c:pt idx="235">
                  <c:v>0.0248274031</c:v>
                </c:pt>
                <c:pt idx="236">
                  <c:v>0.0432698536</c:v>
                </c:pt>
                <c:pt idx="237">
                  <c:v>0.0510368807</c:v>
                </c:pt>
                <c:pt idx="238">
                  <c:v>0.0128780718</c:v>
                </c:pt>
                <c:pt idx="239">
                  <c:v>0.0386095882</c:v>
                </c:pt>
                <c:pt idx="240">
                  <c:v>0.031671159</c:v>
                </c:pt>
                <c:pt idx="241">
                  <c:v>0.0494230351</c:v>
                </c:pt>
                <c:pt idx="242">
                  <c:v>0.0201244813</c:v>
                </c:pt>
                <c:pt idx="243">
                  <c:v>-0.0071181615</c:v>
                </c:pt>
                <c:pt idx="244">
                  <c:v>-0.0027652601</c:v>
                </c:pt>
                <c:pt idx="245">
                  <c:v>0.0008216083</c:v>
                </c:pt>
                <c:pt idx="246">
                  <c:v>0.0301693176</c:v>
                </c:pt>
                <c:pt idx="247">
                  <c:v>0.046219743</c:v>
                </c:pt>
                <c:pt idx="248">
                  <c:v>0.0340854994</c:v>
                </c:pt>
                <c:pt idx="249">
                  <c:v>-0.0069054415</c:v>
                </c:pt>
                <c:pt idx="250">
                  <c:v>0.0199332468</c:v>
                </c:pt>
                <c:pt idx="251">
                  <c:v>0.0659030997</c:v>
                </c:pt>
                <c:pt idx="252">
                  <c:v>0.0689067031</c:v>
                </c:pt>
                <c:pt idx="253">
                  <c:v>0.0179511728</c:v>
                </c:pt>
                <c:pt idx="254">
                  <c:v>0.0369934948</c:v>
                </c:pt>
                <c:pt idx="255">
                  <c:v>-0.0048371249</c:v>
                </c:pt>
                <c:pt idx="256">
                  <c:v>0.0016708438</c:v>
                </c:pt>
                <c:pt idx="257">
                  <c:v>0.0161498218</c:v>
                </c:pt>
                <c:pt idx="258">
                  <c:v>0.0021638561</c:v>
                </c:pt>
                <c:pt idx="259">
                  <c:v>-0.0020102747</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566269"/>
                    </a:solidFill>
                    <a:latin typeface="Helvetica Neue"/>
                    <a:ea typeface="Helvetica Neue"/>
                    <a:cs typeface="Helvetica Neue"/>
                  </a:rPr>
                  <a:t>Month and year</a:t>
                </a:r>
              </a:p>
            </c:rich>
          </c:tx>
          <c:overlay val="0"/>
          <c:txPr>
            <a:bodyPr xmlns:a="http://schemas.openxmlformats.org/drawingml/2006/main" anchorCtr="1"/>
            <a:lstStyle xmlns:a="http://schemas.openxmlformats.org/drawingml/2006/main"/>
            <a:p xmlns:a="http://schemas.openxmlformats.org/drawingml/2006/main">
              <a:pPr>
                <a:defRPr sz="1575">
                  <a:solidFill>
                    <a:srgbClr val="566269"/>
                  </a:solidFill>
                  <a:latin typeface="Helvetica Neue"/>
                  <a:ea typeface="Helvetica Neue"/>
                  <a:cs typeface="Helvetica Neue"/>
                </a:defRPr>
              </a:pPr>
            </a:p>
          </c:txPr>
        </c:title>
        <c:numFmt formatCode="@" sourceLinked="0"/>
        <c:majorTickMark val="none"/>
        <c:minorTickMark val="none"/>
        <c:tickLblPos val="low"/>
        <c:spPr>
          <a:ln xmlns:a="http://schemas.openxmlformats.org/drawingml/2006/main" w="9525">
            <a:solidFill>
              <a:srgbClr val="D7D9D6"/>
            </a:solidFill>
          </a:ln>
        </c:spPr>
        <c:txPr>
          <a:bodyPr xmlns:a="http://schemas.openxmlformats.org/drawingml/2006/main" anchorCtr="1"/>
          <a:lstStyle xmlns:a="http://schemas.openxmlformats.org/drawingml/2006/main"/>
          <a:p xmlns:a="http://schemas.openxmlformats.org/drawingml/2006/main">
            <a:pPr>
              <a:defRPr sz="1350">
                <a:solidFill>
                  <a:srgbClr val="566269"/>
                </a:solidFill>
                <a:latin typeface="Helvetica Neue"/>
                <a:ea typeface="Helvetica Neue"/>
                <a:cs typeface="Helvetica Neue"/>
              </a:defRPr>
            </a:pPr>
          </a:p>
        </c:txPr>
        <c:crossAx val="48672768"/>
        <c:tickLblSkip val="48"/>
        <c:tickMarkSkip val="48"/>
        <c:noMultiLvlLbl val="1"/>
      </c:catAx>
      <c:valAx>
        <c:axId val="48672768"/>
        <c:scaling>
          <c:orientation val="minMax"/>
          <c:max val="0.2"/>
          <c:min val="-0.08"/>
        </c:scaling>
        <c:delete val="0"/>
        <c:axPos val="l"/>
        <c:majorGridlines>
          <c:spPr>
            <a:ln xmlns:a="http://schemas.openxmlformats.org/drawingml/2006/main" w="5715">
              <a:solidFill>
                <a:srgbClr val="D7D9D6"/>
              </a:solidFill>
            </a:ln>
          </c:spPr>
        </c:majorGridlines>
        <c:title>
          <c:tx>
            <c:rich>
              <a:bodyPr xmlns:a="http://schemas.openxmlformats.org/drawingml/2006/main"/>
              <a:lstStyle xmlns:a="http://schemas.openxmlformats.org/drawingml/2006/main"/>
              <a:p xmlns:a="http://schemas.openxmlformats.org/drawingml/2006/main">
                <a:r>
                  <a:rPr sz="1575">
                    <a:solidFill>
                      <a:srgbClr val="566269"/>
                    </a:solidFill>
                    <a:latin typeface="Helvetica Neue"/>
                    <a:ea typeface="Helvetica Neue"/>
                    <a:cs typeface="Helvetica Neue"/>
                  </a:rPr>
                  <a:t>Monthly price change (%)</a:t>
                </a:r>
              </a:p>
            </c:rich>
          </c:tx>
          <c:overlay val="0"/>
          <c:txPr>
            <a:bodyPr xmlns:a="http://schemas.openxmlformats.org/drawingml/2006/main" anchorCtr="1"/>
            <a:lstStyle xmlns:a="http://schemas.openxmlformats.org/drawingml/2006/main"/>
            <a:p xmlns:a="http://schemas.openxmlformats.org/drawingml/2006/main">
              <a:pPr>
                <a:defRPr sz="1575">
                  <a:solidFill>
                    <a:srgbClr val="566269"/>
                  </a:solidFill>
                  <a:latin typeface="Helvetica Neue"/>
                  <a:ea typeface="Helvetica Neue"/>
                  <a:cs typeface="Helvetica Neue"/>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269"/>
                </a:solidFill>
                <a:latin typeface="Helvetica Neue"/>
                <a:ea typeface="Helvetica Neue"/>
                <a:cs typeface="Helvetica Neue"/>
              </a:defRPr>
            </a:pPr>
          </a:p>
        </c:txPr>
        <c:crossAx val="48650112"/>
        <c:crossBetween val="between"/>
        <c:majorUnit val="0.04"/>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23B8E5-4571-4700-A05F-924396C501AC}"/>
              </a:ext>
            </a:extLst>
          </p:cNvPr>
          <p:cNvSpPr>
            <a:spLocks xmlns:a="http://schemas.openxmlformats.org/drawingml/2006/main" noGrp="1"/>
          </p:cNvSpPr>
          <p:nvPr/>
        </p:nvSpPr>
        <p:spPr>
          <a:xfrm xmlns:a="http://schemas.openxmlformats.org/drawingml/2006/main">
            <a:off x="685800" y="666750"/>
            <a:ext cx="10820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182C35"/>
                </a:solidFill>
                <a:latin typeface="Helvetica Neue"/>
                <a:ea typeface="Helvetica Neue"/>
                <a:cs typeface="Helvetica Neue"/>
              </a:defRPr>
            </a:pPr>
            <a:r>
              <a:rPr sz="4350" b="1">
                <a:solidFill>
                  <a:srgbClr val="182C35"/>
                </a:solidFill>
                <a:latin typeface="Helvetica Neue"/>
                <a:ea typeface="Helvetica Neue"/>
                <a:cs typeface="Helvetica Neue"/>
              </a:rPr>
              <a:t>Predicting food inflation</a:t>
            </a:r>
          </a:p>
          <a:p xmlns:a="http://schemas.openxmlformats.org/drawingml/2006/main">
            <a:pPr>
              <a:defRPr sz="4350" b="1">
                <a:solidFill>
                  <a:srgbClr val="182C35"/>
                </a:solidFill>
                <a:latin typeface="Helvetica Neue"/>
                <a:ea typeface="Helvetica Neue"/>
                <a:cs typeface="Helvetica Neue"/>
              </a:defRPr>
            </a:pPr>
            <a:r>
              <a:rPr sz="4350" b="1">
                <a:solidFill>
                  <a:srgbClr val="182C35"/>
                </a:solidFill>
                <a:latin typeface="Helvetica Neue"/>
                <a:ea typeface="Helvetica Neue"/>
                <a:cs typeface="Helvetica Neue"/>
              </a:rPr>
              <a:t>in Turkey</a:t>
            </a:r>
          </a:p>
        </p:txBody>
      </p:sp>
      <p:sp>
        <p:nvSpPr>
          <p:cNvPr id="2" name="">
            <a:extLst xmlns:a="http://schemas.openxmlformats.org/drawingml/2006/main">
              <a:ext uri="{FF2B5EF4-FFF2-40B4-BE49-F238E27FC236}">
                <a16:creationId xmlns:a16="http://schemas.microsoft.com/office/drawing/2014/main" id="{4A54CFB9-4978-42A8-884E-E492D0F7852E}"/>
              </a:ext>
            </a:extLst>
          </p:cNvPr>
          <p:cNvSpPr>
            <a:spLocks xmlns:a="http://schemas.openxmlformats.org/drawingml/2006/main" noGrp="1"/>
          </p:cNvSpPr>
          <p:nvPr/>
        </p:nvSpPr>
        <p:spPr>
          <a:xfrm xmlns:a="http://schemas.openxmlformats.org/drawingml/2006/main">
            <a:off x="685800" y="2505075"/>
            <a:ext cx="10382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82C35"/>
                </a:solidFill>
                <a:latin typeface="Helvetica Neue"/>
                <a:ea typeface="Helvetica Neue"/>
                <a:cs typeface="Helvetica Neue"/>
              </a:defRPr>
            </a:pPr>
            <a:r>
              <a:rPr sz="2700" b="0">
                <a:solidFill>
                  <a:srgbClr val="182C35"/>
                </a:solidFill>
                <a:latin typeface="Helvetica Neue"/>
                <a:ea typeface="Helvetica Neue"/>
                <a:cs typeface="Helvetica Neue"/>
              </a:rPr>
              <a:t>Do exchange rates and global food prices help predict monthly food inflation in Turkey?</a:t>
            </a:r>
          </a:p>
        </p:txBody>
      </p:sp>
      <p:sp>
        <p:nvSpPr>
          <p:cNvPr id="3" name="">
            <a:extLst xmlns:a="http://schemas.openxmlformats.org/drawingml/2006/main">
              <a:ext uri="{FF2B5EF4-FFF2-40B4-BE49-F238E27FC236}">
                <a16:creationId xmlns:a16="http://schemas.microsoft.com/office/drawing/2014/main" id="{FC5642EE-A542-4082-A7EE-ABB9E66A963B}"/>
              </a:ext>
            </a:extLst>
          </p:cNvPr>
          <p:cNvSpPr>
            <a:spLocks xmlns:a="http://schemas.openxmlformats.org/drawingml/2006/main" noGrp="1"/>
          </p:cNvSpPr>
          <p:nvPr/>
        </p:nvSpPr>
        <p:spPr>
          <a:xfrm xmlns:a="http://schemas.openxmlformats.org/drawingml/2006/main">
            <a:off x="685800" y="4191000"/>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66269"/>
                </a:solidFill>
                <a:latin typeface="Helvetica Neue"/>
                <a:ea typeface="Helvetica Neue"/>
                <a:cs typeface="Helvetica Neue"/>
              </a:defRPr>
            </a:pPr>
            <a:r>
              <a:rPr sz="1950" b="0">
                <a:solidFill>
                  <a:srgbClr val="566269"/>
                </a:solidFill>
                <a:latin typeface="Helvetica Neue"/>
                <a:ea typeface="Helvetica Neue"/>
                <a:cs typeface="Helvetica Neue"/>
              </a:rPr>
              <a:t>A "no" means the added indicators fail to reduce forecast error on later months compared with inflation history alone.</a:t>
            </a:r>
          </a:p>
        </p:txBody>
      </p:sp>
      <p:sp>
        <p:nvSpPr>
          <p:cNvPr id="4" name="">
            <a:extLst xmlns:a="http://schemas.openxmlformats.org/drawingml/2006/main">
              <a:ext uri="{FF2B5EF4-FFF2-40B4-BE49-F238E27FC236}">
                <a16:creationId xmlns:a16="http://schemas.microsoft.com/office/drawing/2014/main" id="{DA0B4DB8-D6A2-46F2-9A72-7D09417CA1B0}"/>
              </a:ext>
            </a:extLst>
          </p:cNvPr>
          <p:cNvSpPr>
            <a:spLocks xmlns:a="http://schemas.openxmlformats.org/drawingml/2006/main" noGrp="1"/>
          </p:cNvSpPr>
          <p:nvPr/>
        </p:nvSpPr>
        <p:spPr>
          <a:xfrm xmlns:a="http://schemas.openxmlformats.org/drawingml/2006/main">
            <a:off x="685800" y="58388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82C35"/>
                </a:solidFill>
                <a:latin typeface="Helvetica Neue"/>
                <a:ea typeface="Helvetica Neue"/>
                <a:cs typeface="Helvetica Neue"/>
              </a:defRPr>
            </a:pPr>
            <a:r>
              <a:rPr sz="1725" b="0">
                <a:solidFill>
                  <a:srgbClr val="182C35"/>
                </a:solidFill>
                <a:latin typeface="Helvetica Neue"/>
                <a:ea typeface="Helvetica Neue"/>
                <a:cs typeface="Helvetica Neue"/>
              </a:rPr>
              <a:t>[Team name]    [Member 1]    [Member 2]    [Member 3]</a:t>
            </a:r>
          </a:p>
        </p:txBody>
      </p:sp>
      <p:sp>
        <p:nvSpPr>
          <p:cNvPr id="5" name="">
            <a:extLst xmlns:a="http://schemas.openxmlformats.org/drawingml/2006/main">
              <a:ext uri="{FF2B5EF4-FFF2-40B4-BE49-F238E27FC236}">
                <a16:creationId xmlns:a16="http://schemas.microsoft.com/office/drawing/2014/main" id="{2B13756A-17C4-49D6-B654-6364EDFEAF6D}"/>
              </a:ext>
            </a:extLst>
          </p:cNvPr>
          <p:cNvSpPr>
            <a:spLocks xmlns:a="http://schemas.openxmlformats.org/drawingml/2006/main" noGrp="1"/>
          </p:cNvSpPr>
          <p:nvPr/>
        </p:nvSpPr>
        <p:spPr>
          <a:xfrm xmlns:a="http://schemas.openxmlformats.org/drawingml/2006/main">
            <a:off x="685800" y="63055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DSA 101 project proposal, 19 October 2026</a:t>
            </a:r>
          </a:p>
        </p:txBody>
      </p:sp>
    </p:spTree>
    <p:extLst>
      <p:ext uri="{BB962C8B-B14F-4D97-AF65-F5344CB8AC3E}">
        <p14:creationId xmlns:p14="http://schemas.microsoft.com/office/powerpoint/2010/main" val="220359414"/>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6CDB34-2D05-49FD-AA76-729BF511D6C6}"/>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The data we downloaded</a:t>
            </a:r>
          </a:p>
        </p:txBody>
      </p:sp>
      <p:sp>
        <p:nvSpPr>
          <p:cNvPr id="2" name="">
            <a:extLst xmlns:a="http://schemas.openxmlformats.org/drawingml/2006/main">
              <a:ext uri="{FF2B5EF4-FFF2-40B4-BE49-F238E27FC236}">
                <a16:creationId xmlns:a16="http://schemas.microsoft.com/office/drawing/2014/main" id="{E916E476-02F5-48E2-9772-DFFF2974EB49}"/>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2</a:t>
            </a:r>
          </a:p>
        </p:txBody>
      </p:sp>
      <p:graphicFrame>
        <p:nvGraphicFramePr>
          <p:cNvPr id="11" name=""/>
          <p:cNvGraphicFramePr/>
          <p:nvPr/>
        </p:nvGraphicFramePr>
        <p:xfrm>
          <a:off xmlns:a="http://schemas.openxmlformats.org/drawingml/2006/main" x="685800" y="1628775"/>
          <a:ext xmlns:a="http://schemas.openxmlformats.org/drawingml/2006/main" cx="10820400" cy="2952750"/>
        </p:xfrm>
        <a:graphic xmlns:a="http://schemas.openxmlformats.org/drawingml/2006/main">
          <a:graphicData uri="http://schemas.openxmlformats.org/drawingml/2006/table">
            <a:tbl>
              <a:tblPr firstRow="0" bandRow="0"/>
              <a:tblGrid>
                <a:gridCol w="3333750"/>
                <a:gridCol w="2076450"/>
                <a:gridCol w="2228850"/>
                <a:gridCol w="3181350"/>
              </a:tblGrid>
              <a:tr h="738188">
                <a:tc>
                  <a:txBody>
                    <a:bodyPr/>
                    <a:lstStyle/>
                    <a:p>
                      <a:r>
                        <a:rPr sz="1575" b="1">
                          <a:solidFill>
                            <a:srgbClr val="566269"/>
                          </a:solidFill>
                          <a:latin typeface="Helvetica Neue"/>
                          <a:ea typeface="Helvetica Neue"/>
                          <a:cs typeface="Helvetica Neue"/>
                        </a:rPr>
                        <a:t>Data</a:t>
                      </a:r>
                    </a:p>
                  </a:txBody>
                  <a:tcPr marL="114300" marR="114300" marT="133350" marB="114300" anchor="ctr">
                    <a:lnL w="0">
                      <a:solidFill>
                        <a:srgbClr val="FAF8F3"/>
                      </a:solidFill>
                    </a:lnL>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Rows × columns</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One row</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Period</a:t>
                      </a:r>
                    </a:p>
                  </a:txBody>
                  <a:tcPr marL="114300" marR="114300" marT="133350" marB="114300" anchor="ctr">
                    <a:lnR w="0">
                      <a:solidFill>
                        <a:srgbClr val="FAF8F3"/>
                      </a:solidFill>
                    </a:lnR>
                    <a:lnT w="5715">
                      <a:solidFill>
                        <a:srgbClr val="D7D9D6"/>
                      </a:solidFill>
                    </a:lnT>
                    <a:solidFill>
                      <a:srgbClr val="FAF8F3"/>
                    </a:solidFill>
                  </a:tcPr>
                </a:tc>
              </a:tr>
              <a:tr h="738188">
                <a:tc>
                  <a:txBody>
                    <a:bodyPr/>
                    <a:lstStyle/>
                    <a:p>
                      <a:r>
                        <a:rPr sz="1725">
                          <a:solidFill>
                            <a:srgbClr val="182C35"/>
                          </a:solidFill>
                          <a:latin typeface="Helvetica Neue"/>
                          <a:ea typeface="Helvetica Neue"/>
                          <a:cs typeface="Helvetica Neue"/>
                        </a:rPr>
                        <a:t>Turkish food prices</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261 × 7</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One month</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Jan 2005 to Sep 2026</a:t>
                      </a:r>
                    </a:p>
                  </a:txBody>
                  <a:tcPr marL="114300" marR="114300" marT="133350" marB="114300" anchor="ctr">
                    <a:lnR w="0">
                      <a:solidFill>
                        <a:srgbClr val="FAF8F3"/>
                      </a:solidFill>
                    </a:lnR>
                    <a:solidFill>
                      <a:srgbClr val="FAF8F3"/>
                    </a:solidFill>
                  </a:tcPr>
                </a:tc>
              </a:tr>
              <a:tr h="738188">
                <a:tc>
                  <a:txBody>
                    <a:bodyPr/>
                    <a:lstStyle/>
                    <a:p>
                      <a:r>
                        <a:rPr sz="1725">
                          <a:solidFill>
                            <a:srgbClr val="182C35"/>
                          </a:solidFill>
                          <a:latin typeface="Helvetica Neue"/>
                          <a:ea typeface="Helvetica Neue"/>
                          <a:cs typeface="Helvetica Neue"/>
                        </a:rPr>
                        <a:t>Dollar-lira exchange rate</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7,943 × 3</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One day</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Jan 2005 to Sep 2026</a:t>
                      </a:r>
                    </a:p>
                  </a:txBody>
                  <a:tcPr marL="114300" marR="114300" marT="133350" marB="114300" anchor="ctr">
                    <a:lnR w="0">
                      <a:solidFill>
                        <a:srgbClr val="FAF8F3"/>
                      </a:solidFill>
                    </a:lnR>
                    <a:solidFill>
                      <a:srgbClr val="FAF8F3"/>
                    </a:solidFill>
                  </a:tcPr>
                </a:tc>
              </a:tr>
              <a:tr h="738188">
                <a:tc>
                  <a:txBody>
                    <a:bodyPr/>
                    <a:lstStyle/>
                    <a:p>
                      <a:r>
                        <a:rPr sz="1725">
                          <a:solidFill>
                            <a:srgbClr val="182C35"/>
                          </a:solidFill>
                          <a:latin typeface="Helvetica Neue"/>
                          <a:ea typeface="Helvetica Neue"/>
                          <a:cs typeface="Helvetica Neue"/>
                        </a:rPr>
                        <a:t>Global food prices</a:t>
                      </a:r>
                    </a:p>
                  </a:txBody>
                  <a:tcPr marL="114300" marR="114300" marT="133350" marB="114300" anchor="ctr">
                    <a:lnL w="0">
                      <a:solidFill>
                        <a:srgbClr val="FAF8F3"/>
                      </a:solidFill>
                    </a:lnL>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441 × 7</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One month</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Jan 1990 to Sep 2026</a:t>
                      </a:r>
                    </a:p>
                  </a:txBody>
                  <a:tcPr marL="114300" marR="114300" marT="133350" marB="114300" anchor="ctr">
                    <a:lnR w="0">
                      <a:solidFill>
                        <a:srgbClr val="FAF8F3"/>
                      </a:solidFill>
                    </a:lnR>
                    <a:lnB w="5715">
                      <a:solidFill>
                        <a:srgbClr val="D7D9D6"/>
                      </a:solidFill>
                    </a:lnB>
                    <a:solidFill>
                      <a:srgbClr val="FAF8F3"/>
                    </a:solidFill>
                  </a:tcPr>
                </a:tc>
              </a:tr>
            </a:tbl>
          </a:graphicData>
        </a:graphic>
      </p:graphicFrame>
      <p:sp>
        <p:nvSpPr>
          <p:cNvPr id="4" name="">
            <a:extLst xmlns:a="http://schemas.openxmlformats.org/drawingml/2006/main">
              <a:ext uri="{FF2B5EF4-FFF2-40B4-BE49-F238E27FC236}">
                <a16:creationId xmlns:a16="http://schemas.microsoft.com/office/drawing/2014/main" id="{BA83DF80-0DD2-4FFF-87D9-7F500A148083}"/>
              </a:ext>
            </a:extLst>
          </p:cNvPr>
          <p:cNvSpPr>
            <a:spLocks xmlns:a="http://schemas.openxmlformats.org/drawingml/2006/main" noGrp="1"/>
          </p:cNvSpPr>
          <p:nvPr/>
        </p:nvSpPr>
        <p:spPr>
          <a:xfrm xmlns:a="http://schemas.openxmlformats.org/drawingml/2006/main">
            <a:off x="685800" y="47720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82C35"/>
                </a:solidFill>
                <a:latin typeface="Helvetica Neue"/>
                <a:ea typeface="Helvetica Neue"/>
                <a:cs typeface="Helvetica Neue"/>
              </a:defRPr>
            </a:pPr>
            <a:r>
              <a:rPr sz="1875" b="0">
                <a:solidFill>
                  <a:srgbClr val="182C35"/>
                </a:solidFill>
                <a:latin typeface="Helvetica Neue"/>
                <a:ea typeface="Helvetica Neue"/>
                <a:cs typeface="Helvetica Neue"/>
              </a:rPr>
              <a:t>All three datasets cover January 2005 to September 2026.</a:t>
            </a:r>
          </a:p>
        </p:txBody>
      </p:sp>
      <p:sp>
        <p:nvSpPr>
          <p:cNvPr id="5" name="">
            <a:extLst xmlns:a="http://schemas.openxmlformats.org/drawingml/2006/main">
              <a:ext uri="{FF2B5EF4-FFF2-40B4-BE49-F238E27FC236}">
                <a16:creationId xmlns:a16="http://schemas.microsoft.com/office/drawing/2014/main" id="{3B842051-8BB9-44C4-8ED7-AFDF059505C2}"/>
              </a:ext>
            </a:extLst>
          </p:cNvPr>
          <p:cNvSpPr>
            <a:spLocks xmlns:a="http://schemas.openxmlformats.org/drawingml/2006/main" noGrp="1"/>
          </p:cNvSpPr>
          <p:nvPr/>
        </p:nvSpPr>
        <p:spPr>
          <a:xfrm xmlns:a="http://schemas.openxmlformats.org/drawingml/2006/main">
            <a:off x="685800" y="52482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82C35"/>
                </a:solidFill>
                <a:latin typeface="Helvetica Neue"/>
                <a:ea typeface="Helvetica Neue"/>
                <a:cs typeface="Helvetica Neue"/>
              </a:defRPr>
            </a:pPr>
            <a:r>
              <a:rPr sz="1800" b="0">
                <a:solidFill>
                  <a:srgbClr val="182C35"/>
                </a:solidFill>
                <a:latin typeface="Helvetica Neue"/>
                <a:ea typeface="Helvetica Neue"/>
                <a:cs typeface="Helvetica Neue"/>
              </a:rPr>
              <a:t>261 months of prices give 260 monthly changes.</a:t>
            </a:r>
          </a:p>
        </p:txBody>
      </p:sp>
      <p:sp>
        <p:nvSpPr>
          <p:cNvPr id="8" name="">
            <a:extLst xmlns:a="http://schemas.openxmlformats.org/drawingml/2006/main">
              <a:ext uri="{FF2B5EF4-FFF2-40B4-BE49-F238E27FC236}">
                <a16:creationId xmlns:a16="http://schemas.microsoft.com/office/drawing/2014/main" id="{9716458A-C5A0-410A-9F5C-30ED2372EA4B}"/>
              </a:ext>
            </a:extLst>
          </p:cNvPr>
          <p:cNvSpPr>
            <a:spLocks xmlns:a="http://schemas.openxmlformats.org/drawingml/2006/main" noGrp="1"/>
          </p:cNvSpPr>
          <p:nvPr/>
        </p:nvSpPr>
        <p:spPr>
          <a:xfrm xmlns:a="http://schemas.openxmlformats.org/drawingml/2006/main">
            <a:off x="685800" y="5819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Sources: TurkStat via TCMB EVDS, TCMB, and FAO.</a:t>
            </a:r>
          </a:p>
        </p:txBody>
      </p:sp>
    </p:spTree>
    <p:extLst>
      <p:ext uri="{BB962C8B-B14F-4D97-AF65-F5344CB8AC3E}">
        <p14:creationId xmlns:p14="http://schemas.microsoft.com/office/powerpoint/2010/main" val="1617910266"/>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3B0CC5-2EAD-4098-A7FF-843398E3AED5}"/>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685800" y="476250"/>
          <a:ext xmlns:a="http://schemas.openxmlformats.org/drawingml/2006/main" cx="10820400" cy="4857750"/>
        </p:xfrm>
        <a:graphic xmlns:a="http://schemas.openxmlformats.org/drawingml/2006/main">
          <a:graphicData uri="http://schemas.openxmlformats.org/drawingml/2006/chart">
            <c:chart xmlns:r="http://schemas.openxmlformats.org/officeDocument/2006/relationships" xmlns:c="http://schemas.openxmlformats.org/drawingml/2006/chart" r:id="Rfa280f8662b7481b"/>
          </a:graphicData>
        </a:graphic>
      </p:graphicFrame>
      <p:sp>
        <p:nvSpPr>
          <p:cNvPr id="4" name="">
            <a:extLst xmlns:a="http://schemas.openxmlformats.org/drawingml/2006/main">
              <a:ext uri="{FF2B5EF4-FFF2-40B4-BE49-F238E27FC236}">
                <a16:creationId xmlns:a16="http://schemas.microsoft.com/office/drawing/2014/main" id="{B0A4856F-5855-4313-B748-D581C1DAF1BD}"/>
              </a:ext>
            </a:extLst>
          </p:cNvPr>
          <p:cNvSpPr>
            <a:spLocks xmlns:a="http://schemas.openxmlformats.org/drawingml/2006/main" noGrp="1"/>
          </p:cNvSpPr>
          <p:nvPr/>
        </p:nvSpPr>
        <p:spPr>
          <a:xfrm xmlns:a="http://schemas.openxmlformats.org/drawingml/2006/main">
            <a:off x="685800" y="55340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C35"/>
                </a:solidFill>
                <a:latin typeface="Helvetica Neue"/>
                <a:ea typeface="Helvetica Neue"/>
                <a:cs typeface="Helvetica Neue"/>
              </a:defRPr>
            </a:pPr>
            <a:r>
              <a:rPr sz="1875" b="0">
                <a:solidFill>
                  <a:srgbClr val="182C35"/>
                </a:solidFill>
                <a:latin typeface="Helvetica Neue"/>
                <a:ea typeface="Helvetica Neue"/>
                <a:cs typeface="Helvetica Neue"/>
              </a:rPr>
              <a:t>In December 2021, food prices rose about 16% in one month.</a:t>
            </a:r>
          </a:p>
        </p:txBody>
      </p:sp>
      <p:sp>
        <p:nvSpPr>
          <p:cNvPr id="5" name="">
            <a:extLst xmlns:a="http://schemas.openxmlformats.org/drawingml/2006/main">
              <a:ext uri="{FF2B5EF4-FFF2-40B4-BE49-F238E27FC236}">
                <a16:creationId xmlns:a16="http://schemas.microsoft.com/office/drawing/2014/main" id="{0D5457D4-AE8A-44B5-A6C5-B66D74D92501}"/>
              </a:ext>
            </a:extLst>
          </p:cNvPr>
          <p:cNvSpPr>
            <a:spLocks xmlns:a="http://schemas.openxmlformats.org/drawingml/2006/main" noGrp="1"/>
          </p:cNvSpPr>
          <p:nvPr/>
        </p:nvSpPr>
        <p:spPr>
          <a:xfrm xmlns:a="http://schemas.openxmlformats.org/drawingml/2006/main">
            <a:off x="685800" y="60293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66269"/>
                </a:solidFill>
                <a:latin typeface="Helvetica Neue"/>
                <a:ea typeface="Helvetica Neue"/>
                <a:cs typeface="Helvetica Neue"/>
              </a:defRPr>
            </a:pPr>
            <a:r>
              <a:rPr sz="1650" b="0">
                <a:solidFill>
                  <a:srgbClr val="566269"/>
                </a:solidFill>
                <a:latin typeface="Helvetica Neue"/>
                <a:ea typeface="Helvetica Neue"/>
                <a:cs typeface="Helvetica Neue"/>
              </a:rPr>
              <a:t>This shows past price changes. We have not tested our predictions yet.</a:t>
            </a:r>
          </a:p>
        </p:txBody>
      </p:sp>
    </p:spTree>
    <p:extLst>
      <p:ext uri="{BB962C8B-B14F-4D97-AF65-F5344CB8AC3E}">
        <p14:creationId xmlns:p14="http://schemas.microsoft.com/office/powerpoint/2010/main" val="1914071101"/>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13017E-5B43-4EDD-A9DE-7D0BDF66E5A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How we will test the idea</a:t>
            </a:r>
          </a:p>
        </p:txBody>
      </p:sp>
      <p:sp>
        <p:nvSpPr>
          <p:cNvPr id="2" name="">
            <a:extLst xmlns:a="http://schemas.openxmlformats.org/drawingml/2006/main">
              <a:ext uri="{FF2B5EF4-FFF2-40B4-BE49-F238E27FC236}">
                <a16:creationId xmlns:a16="http://schemas.microsoft.com/office/drawing/2014/main" id="{8AA58DD3-CEB3-461B-B5DE-6F9BA8F4D3BF}"/>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4</a:t>
            </a:r>
          </a:p>
        </p:txBody>
      </p:sp>
      <p:sp>
        <p:nvSpPr>
          <p:cNvPr id="9" name="">
            <a:extLst xmlns:a="http://schemas.openxmlformats.org/drawingml/2006/main">
              <a:ext uri="{FF2B5EF4-FFF2-40B4-BE49-F238E27FC236}">
                <a16:creationId xmlns:a16="http://schemas.microsoft.com/office/drawing/2014/main" id="{0A0E9180-1820-4B40-BCC1-09EF50933C98}"/>
              </a:ext>
            </a:extLst>
          </p:cNvPr>
          <p:cNvSpPr>
            <a:spLocks xmlns:a="http://schemas.openxmlformats.org/drawingml/2006/main" noGrp="1"/>
          </p:cNvSpPr>
          <p:nvPr/>
        </p:nvSpPr>
        <p:spPr>
          <a:xfrm xmlns:a="http://schemas.openxmlformats.org/drawingml/2006/main">
            <a:off x="685800" y="16097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82C35"/>
                </a:solidFill>
                <a:latin typeface="Helvetica Neue"/>
                <a:ea typeface="Helvetica Neue"/>
                <a:cs typeface="Helvetica Neue"/>
              </a:defRPr>
            </a:pPr>
            <a:r>
              <a:rPr sz="2175" b="0">
                <a:solidFill>
                  <a:srgbClr val="182C35"/>
                </a:solidFill>
                <a:latin typeface="Helvetica Neue"/>
                <a:ea typeface="Helvetica Neue"/>
                <a:cs typeface="Helvetica Neue"/>
              </a:rPr>
              <a:t>We will first predict food inflation using food inflation in earlier months.</a:t>
            </a:r>
          </a:p>
        </p:txBody>
      </p:sp>
      <p:sp>
        <p:nvSpPr>
          <p:cNvPr id="10" name="">
            <a:extLst xmlns:a="http://schemas.openxmlformats.org/drawingml/2006/main">
              <a:ext uri="{FF2B5EF4-FFF2-40B4-BE49-F238E27FC236}">
                <a16:creationId xmlns:a16="http://schemas.microsoft.com/office/drawing/2014/main" id="{F5E99BDC-8026-46BF-9AF9-32974C227832}"/>
              </a:ext>
            </a:extLst>
          </p:cNvPr>
          <p:cNvSpPr>
            <a:spLocks xmlns:a="http://schemas.openxmlformats.org/drawingml/2006/main" noGrp="1"/>
          </p:cNvSpPr>
          <p:nvPr/>
        </p:nvSpPr>
        <p:spPr>
          <a:xfrm xmlns:a="http://schemas.openxmlformats.org/drawingml/2006/main">
            <a:off x="685800" y="25241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82C35"/>
                </a:solidFill>
                <a:latin typeface="Helvetica Neue"/>
                <a:ea typeface="Helvetica Neue"/>
                <a:cs typeface="Helvetica Neue"/>
              </a:defRPr>
            </a:pPr>
            <a:r>
              <a:rPr sz="2175" b="0">
                <a:solidFill>
                  <a:srgbClr val="182C35"/>
                </a:solidFill>
                <a:latin typeface="Helvetica Neue"/>
                <a:ea typeface="Helvetica Neue"/>
                <a:cs typeface="Helvetica Neue"/>
              </a:rPr>
              <a:t>Then we will add changes in the dollar-lira exchange rate,</a:t>
            </a:r>
          </a:p>
          <a:p xmlns:a="http://schemas.openxmlformats.org/drawingml/2006/main">
            <a:pPr>
              <a:defRPr sz="2175" b="0">
                <a:solidFill>
                  <a:srgbClr val="182C35"/>
                </a:solidFill>
                <a:latin typeface="Helvetica Neue"/>
                <a:ea typeface="Helvetica Neue"/>
                <a:cs typeface="Helvetica Neue"/>
              </a:defRPr>
            </a:pPr>
            <a:r>
              <a:rPr sz="2175" b="0">
                <a:solidFill>
                  <a:srgbClr val="182C35"/>
                </a:solidFill>
                <a:latin typeface="Helvetica Neue"/>
                <a:ea typeface="Helvetica Neue"/>
                <a:cs typeface="Helvetica Neue"/>
              </a:rPr>
              <a:t>changes in global food prices, and both together.</a:t>
            </a:r>
          </a:p>
        </p:txBody>
      </p:sp>
      <p:sp>
        <p:nvSpPr>
          <p:cNvPr id="11" name="">
            <a:extLst xmlns:a="http://schemas.openxmlformats.org/drawingml/2006/main">
              <a:ext uri="{FF2B5EF4-FFF2-40B4-BE49-F238E27FC236}">
                <a16:creationId xmlns:a16="http://schemas.microsoft.com/office/drawing/2014/main" id="{8FBC6DAB-26B7-458E-8691-FAEE0C26EEB9}"/>
              </a:ext>
            </a:extLst>
          </p:cNvPr>
          <p:cNvSpPr>
            <a:spLocks xmlns:a="http://schemas.openxmlformats.org/drawingml/2006/main" noGrp="1"/>
          </p:cNvSpPr>
          <p:nvPr/>
        </p:nvSpPr>
        <p:spPr>
          <a:xfrm xmlns:a="http://schemas.openxmlformats.org/drawingml/2006/main">
            <a:off x="685800" y="36290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82C35"/>
                </a:solidFill>
                <a:latin typeface="Helvetica Neue"/>
                <a:ea typeface="Helvetica Neue"/>
                <a:cs typeface="Helvetica Neue"/>
              </a:defRPr>
            </a:pPr>
            <a:r>
              <a:rPr sz="2175" b="0">
                <a:solidFill>
                  <a:srgbClr val="182C35"/>
                </a:solidFill>
                <a:latin typeface="Helvetica Neue"/>
                <a:ea typeface="Helvetica Neue"/>
                <a:cs typeface="Helvetica Neue"/>
              </a:rPr>
              <a:t>Compare each prediction with the actual monthly change.</a:t>
            </a:r>
          </a:p>
        </p:txBody>
      </p:sp>
      <p:sp>
        <p:nvSpPr>
          <p:cNvPr id="12" name="">
            <a:extLst xmlns:a="http://schemas.openxmlformats.org/drawingml/2006/main">
              <a:ext uri="{FF2B5EF4-FFF2-40B4-BE49-F238E27FC236}">
                <a16:creationId xmlns:a16="http://schemas.microsoft.com/office/drawing/2014/main" id="{AC86743D-918B-4022-A3AC-F0315A740D3C}"/>
              </a:ext>
            </a:extLst>
          </p:cNvPr>
          <p:cNvSpPr>
            <a:spLocks xmlns:a="http://schemas.openxmlformats.org/drawingml/2006/main" noGrp="1"/>
          </p:cNvSpPr>
          <p:nvPr/>
        </p:nvSpPr>
        <p:spPr>
          <a:xfrm xmlns:a="http://schemas.openxmlformats.org/drawingml/2006/main">
            <a:off x="685800" y="4619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9D3B33"/>
                </a:solidFill>
                <a:latin typeface="Helvetica Neue"/>
                <a:ea typeface="Helvetica Neue"/>
                <a:cs typeface="Helvetica Neue"/>
              </a:defRPr>
            </a:pPr>
            <a:r>
              <a:rPr sz="2175" b="1">
                <a:solidFill>
                  <a:srgbClr val="9D3B33"/>
                </a:solidFill>
                <a:latin typeface="Helvetica Neue"/>
                <a:ea typeface="Helvetica Neue"/>
                <a:cs typeface="Helvetica Neue"/>
              </a:rPr>
              <a:t>Biggest risk: using data that was not yet available.</a:t>
            </a:r>
          </a:p>
        </p:txBody>
      </p:sp>
      <p:sp>
        <p:nvSpPr>
          <p:cNvPr id="13" name="">
            <a:extLst xmlns:a="http://schemas.openxmlformats.org/drawingml/2006/main">
              <a:ext uri="{FF2B5EF4-FFF2-40B4-BE49-F238E27FC236}">
                <a16:creationId xmlns:a16="http://schemas.microsoft.com/office/drawing/2014/main" id="{EA4EF9FF-2BC7-492B-A9AB-5E7BF3E113AB}"/>
              </a:ext>
            </a:extLst>
          </p:cNvPr>
          <p:cNvSpPr>
            <a:spLocks xmlns:a="http://schemas.openxmlformats.org/drawingml/2006/main" noGrp="1"/>
          </p:cNvSpPr>
          <p:nvPr/>
        </p:nvSpPr>
        <p:spPr>
          <a:xfrm xmlns:a="http://schemas.openxmlformats.org/drawingml/2006/main">
            <a:off x="685800" y="52959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82C35"/>
                </a:solidFill>
                <a:latin typeface="Helvetica Neue"/>
                <a:ea typeface="Helvetica Neue"/>
                <a:cs typeface="Helvetica Neue"/>
              </a:defRPr>
            </a:pPr>
            <a:r>
              <a:rPr sz="2175" b="0">
                <a:solidFill>
                  <a:srgbClr val="182C35"/>
                </a:solidFill>
                <a:latin typeface="Helvetica Neue"/>
                <a:ea typeface="Helvetica Neue"/>
                <a:cs typeface="Helvetica Neue"/>
              </a:rPr>
              <a:t>To predict June, use only information published before June.</a:t>
            </a:r>
          </a:p>
        </p:txBody>
      </p:sp>
    </p:spTree>
    <p:extLst>
      <p:ext uri="{BB962C8B-B14F-4D97-AF65-F5344CB8AC3E}">
        <p14:creationId xmlns:p14="http://schemas.microsoft.com/office/powerpoint/2010/main" val="221654846"/>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DE4F38-3B26-431D-BF41-25203ACDDEE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182C35"/>
                </a:solidFill>
                <a:latin typeface="Helvetica Neue"/>
                <a:ea typeface="Helvetica Neue"/>
                <a:cs typeface="Helvetica Neue"/>
              </a:defRPr>
            </a:pPr>
            <a:r>
              <a:rPr sz="3300" b="1">
                <a:solidFill>
                  <a:srgbClr val="182C35"/>
                </a:solidFill>
                <a:latin typeface="Helvetica Neue"/>
                <a:ea typeface="Helvetica Neue"/>
                <a:cs typeface="Helvetica Neue"/>
              </a:rPr>
              <a:t>Work plan</a:t>
            </a:r>
          </a:p>
        </p:txBody>
      </p:sp>
      <p:sp>
        <p:nvSpPr>
          <p:cNvPr id="2" name="">
            <a:extLst xmlns:a="http://schemas.openxmlformats.org/drawingml/2006/main">
              <a:ext uri="{FF2B5EF4-FFF2-40B4-BE49-F238E27FC236}">
                <a16:creationId xmlns:a16="http://schemas.microsoft.com/office/drawing/2014/main" id="{B2B789AB-46A4-4E6C-838E-E0BBA928344F}"/>
              </a:ext>
            </a:extLst>
          </p:cNvPr>
          <p:cNvSpPr>
            <a:spLocks xmlns:a="http://schemas.openxmlformats.org/drawingml/2006/main" noGrp="1"/>
          </p:cNvSpPr>
          <p:nvPr/>
        </p:nvSpPr>
        <p:spPr>
          <a:xfrm xmlns:a="http://schemas.openxmlformats.org/drawingml/2006/main">
            <a:off x="11182350" y="63055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66269"/>
                </a:solidFill>
                <a:latin typeface="Helvetica Neue"/>
                <a:ea typeface="Helvetica Neue"/>
                <a:cs typeface="Helvetica Neue"/>
              </a:defRPr>
            </a:pPr>
            <a:r>
              <a:rPr sz="1350" b="0">
                <a:solidFill>
                  <a:srgbClr val="566269"/>
                </a:solidFill>
                <a:latin typeface="Helvetica Neue"/>
                <a:ea typeface="Helvetica Neue"/>
                <a:cs typeface="Helvetica Neue"/>
              </a:rPr>
              <a:t>5</a:t>
            </a:r>
          </a:p>
        </p:txBody>
      </p:sp>
      <p:graphicFrame>
        <p:nvGraphicFramePr>
          <p:cNvPr id="10" name=""/>
          <p:cNvGraphicFramePr/>
          <p:nvPr/>
        </p:nvGraphicFramePr>
        <p:xfrm>
          <a:off xmlns:a="http://schemas.openxmlformats.org/drawingml/2006/main" x="685800" y="1533525"/>
          <a:ext xmlns:a="http://schemas.openxmlformats.org/drawingml/2006/main" cx="10820400" cy="3800475"/>
        </p:xfrm>
        <a:graphic xmlns:a="http://schemas.openxmlformats.org/drawingml/2006/main">
          <a:graphicData uri="http://schemas.openxmlformats.org/drawingml/2006/table">
            <a:tbl>
              <a:tblPr firstRow="0" bandRow="0"/>
              <a:tblGrid>
                <a:gridCol w="1790700"/>
                <a:gridCol w="5753100"/>
                <a:gridCol w="3276600"/>
              </a:tblGrid>
              <a:tr h="633413">
                <a:tc>
                  <a:txBody>
                    <a:bodyPr/>
                    <a:lstStyle/>
                    <a:p>
                      <a:r>
                        <a:rPr sz="1575" b="1">
                          <a:solidFill>
                            <a:srgbClr val="566269"/>
                          </a:solidFill>
                          <a:latin typeface="Helvetica Neue"/>
                          <a:ea typeface="Helvetica Neue"/>
                          <a:cs typeface="Helvetica Neue"/>
                        </a:rPr>
                        <a:t>By</a:t>
                      </a:r>
                    </a:p>
                  </a:txBody>
                  <a:tcPr marL="114300" marR="114300" marT="133350" marB="114300" anchor="ctr">
                    <a:lnL w="0">
                      <a:solidFill>
                        <a:srgbClr val="FAF8F3"/>
                      </a:solidFill>
                    </a:lnL>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Planned work</a:t>
                      </a:r>
                    </a:p>
                  </a:txBody>
                  <a:tcPr marL="114300" marR="114300" marT="133350" marB="114300" anchor="ctr">
                    <a:lnT w="5715">
                      <a:solidFill>
                        <a:srgbClr val="D7D9D6"/>
                      </a:solidFill>
                    </a:lnT>
                    <a:solidFill>
                      <a:srgbClr val="FAF8F3"/>
                    </a:solidFill>
                  </a:tcPr>
                </a:tc>
                <a:tc>
                  <a:txBody>
                    <a:bodyPr/>
                    <a:lstStyle/>
                    <a:p>
                      <a:r>
                        <a:rPr sz="1575" b="1">
                          <a:solidFill>
                            <a:srgbClr val="566269"/>
                          </a:solidFill>
                          <a:latin typeface="Helvetica Neue"/>
                          <a:ea typeface="Helvetica Neue"/>
                          <a:cs typeface="Helvetica Neue"/>
                        </a:rPr>
                        <a:t>Owner</a:t>
                      </a:r>
                    </a:p>
                  </a:txBody>
                  <a:tcPr marL="114300" marR="114300" marT="133350" marB="114300" anchor="ctr">
                    <a:lnR w="0">
                      <a:solidFill>
                        <a:srgbClr val="FAF8F3"/>
                      </a:solidFill>
                    </a:lnR>
                    <a:lnT w="5715">
                      <a:solidFill>
                        <a:srgbClr val="D7D9D6"/>
                      </a:solidFill>
                    </a:lnT>
                    <a:solidFill>
                      <a:srgbClr val="FAF8F3"/>
                    </a:solidFill>
                  </a:tcPr>
                </a:tc>
              </a:tr>
              <a:tr h="633413">
                <a:tc>
                  <a:txBody>
                    <a:bodyPr/>
                    <a:lstStyle/>
                    <a:p>
                      <a:r>
                        <a:rPr sz="1725">
                          <a:solidFill>
                            <a:srgbClr val="182C35"/>
                          </a:solidFill>
                          <a:latin typeface="Helvetica Neue"/>
                          <a:ea typeface="Helvetica Neue"/>
                          <a:cs typeface="Helvetica Neue"/>
                        </a:rPr>
                        <a:t>26 October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Combine files by month</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1</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2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Make charts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2</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9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Build and compare predictions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Member 3</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16 November</a:t>
                      </a:r>
                    </a:p>
                  </a:txBody>
                  <a:tcPr marL="114300" marR="114300" marT="133350" marB="114300" anchor="ctr">
                    <a:lnL w="0">
                      <a:solidFill>
                        <a:srgbClr val="FAF8F3"/>
                      </a:solidFill>
                    </a:lnL>
                    <a:solidFill>
                      <a:srgbClr val="FAF8F3"/>
                    </a:solidFill>
                  </a:tcPr>
                </a:tc>
                <a:tc>
                  <a:txBody>
                    <a:bodyPr/>
                    <a:lstStyle/>
                    <a:p>
                      <a:r>
                        <a:rPr sz="1725">
                          <a:solidFill>
                            <a:srgbClr val="182C35"/>
                          </a:solidFill>
                          <a:latin typeface="Helvetica Neue"/>
                          <a:ea typeface="Helvetica Neue"/>
                          <a:cs typeface="Helvetica Neue"/>
                        </a:rPr>
                        <a:t>Check results and limitations</a:t>
                      </a:r>
                    </a:p>
                  </a:txBody>
                  <a:tcPr marL="114300" marR="114300" marT="133350" marB="114300" anchor="ctr">
                    <a:solidFill>
                      <a:srgbClr val="FAF8F3"/>
                    </a:solidFill>
                  </a:tcPr>
                </a:tc>
                <a:tc>
                  <a:txBody>
                    <a:bodyPr/>
                    <a:lstStyle/>
                    <a:p>
                      <a:r>
                        <a:rPr sz="1725">
                          <a:solidFill>
                            <a:srgbClr val="182C35"/>
                          </a:solidFill>
                          <a:latin typeface="Helvetica Neue"/>
                          <a:ea typeface="Helvetica Neue"/>
                          <a:cs typeface="Helvetica Neue"/>
                        </a:rPr>
                        <a:t>Everyone</a:t>
                      </a:r>
                    </a:p>
                  </a:txBody>
                  <a:tcPr marL="114300" marR="114300" marT="133350" marB="114300" anchor="ctr">
                    <a:lnR w="0">
                      <a:solidFill>
                        <a:srgbClr val="FAF8F3"/>
                      </a:solidFill>
                    </a:lnR>
                    <a:solidFill>
                      <a:srgbClr val="FAF8F3"/>
                    </a:solidFill>
                  </a:tcPr>
                </a:tc>
              </a:tr>
              <a:tr h="633413">
                <a:tc>
                  <a:txBody>
                    <a:bodyPr/>
                    <a:lstStyle/>
                    <a:p>
                      <a:r>
                        <a:rPr sz="1725">
                          <a:solidFill>
                            <a:srgbClr val="182C35"/>
                          </a:solidFill>
                          <a:latin typeface="Helvetica Neue"/>
                          <a:ea typeface="Helvetica Neue"/>
                          <a:cs typeface="Helvetica Neue"/>
                        </a:rPr>
                        <a:t>23 November</a:t>
                      </a:r>
                    </a:p>
                  </a:txBody>
                  <a:tcPr marL="114300" marR="114300" marT="133350" marB="114300" anchor="ctr">
                    <a:lnL w="0">
                      <a:solidFill>
                        <a:srgbClr val="FAF8F3"/>
                      </a:solidFill>
                    </a:lnL>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Finish notebook and report</a:t>
                      </a:r>
                    </a:p>
                  </a:txBody>
                  <a:tcPr marL="114300" marR="114300" marT="133350" marB="114300" anchor="ctr">
                    <a:lnB w="5715">
                      <a:solidFill>
                        <a:srgbClr val="D7D9D6"/>
                      </a:solidFill>
                    </a:lnB>
                    <a:solidFill>
                      <a:srgbClr val="FAF8F3"/>
                    </a:solidFill>
                  </a:tcPr>
                </a:tc>
                <a:tc>
                  <a:txBody>
                    <a:bodyPr/>
                    <a:lstStyle/>
                    <a:p>
                      <a:r>
                        <a:rPr sz="1725">
                          <a:solidFill>
                            <a:srgbClr val="182C35"/>
                          </a:solidFill>
                          <a:latin typeface="Helvetica Neue"/>
                          <a:ea typeface="Helvetica Neue"/>
                          <a:cs typeface="Helvetica Neue"/>
                        </a:rPr>
                        <a:t>Everyone</a:t>
                      </a:r>
                    </a:p>
                  </a:txBody>
                  <a:tcPr marL="114300" marR="114300" marT="133350" marB="114300" anchor="ctr">
                    <a:lnR w="0">
                      <a:solidFill>
                        <a:srgbClr val="FAF8F3"/>
                      </a:solidFill>
                    </a:lnR>
                    <a:lnB w="5715">
                      <a:solidFill>
                        <a:srgbClr val="D7D9D6"/>
                      </a:solidFill>
                    </a:lnB>
                    <a:solidFill>
                      <a:srgbClr val="FAF8F3"/>
                    </a:solidFill>
                  </a:tcPr>
                </a:tc>
              </a:tr>
            </a:tbl>
          </a:graphicData>
        </a:graphic>
      </p:graphicFrame>
      <p:sp>
        <p:nvSpPr>
          <p:cNvPr id="7" name="">
            <a:extLst xmlns:a="http://schemas.openxmlformats.org/drawingml/2006/main">
              <a:ext uri="{FF2B5EF4-FFF2-40B4-BE49-F238E27FC236}">
                <a16:creationId xmlns:a16="http://schemas.microsoft.com/office/drawing/2014/main" id="{88B2F465-2B99-4C66-99A3-EEF7262B42F1}"/>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66269"/>
                </a:solidFill>
                <a:latin typeface="Helvetica Neue"/>
                <a:ea typeface="Helvetica Neue"/>
                <a:cs typeface="Helvetica Neue"/>
              </a:defRPr>
            </a:pPr>
            <a:r>
              <a:rPr sz="1800" b="0">
                <a:solidFill>
                  <a:srgbClr val="566269"/>
                </a:solidFill>
                <a:latin typeface="Helvetica Neue"/>
                <a:ea typeface="Helvetica Neue"/>
                <a:cs typeface="Helvetica Neue"/>
              </a:rPr>
              <a:t>The report and notebook are due on 23 November.</a:t>
            </a:r>
          </a:p>
        </p:txBody>
      </p:sp>
    </p:spTree>
    <p:extLst>
      <p:ext uri="{BB962C8B-B14F-4D97-AF65-F5344CB8AC3E}">
        <p14:creationId xmlns:p14="http://schemas.microsoft.com/office/powerpoint/2010/main" val="908666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2026-10-14T16:17:19.3510000Z</dcterms:created>
  <dcterms:modified xsi:type="dcterms:W3CDTF">2026-10-14T16:17:19.3510000Z</dcterms:modified>
</coreProperties>
</file>