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a9318ca1b84f63" /><Relationship Type="http://schemas.openxmlformats.org/officeDocument/2006/relationships/extended-properties" Target="/docProps/app.xml" Id="R884046eba3da4dec" /><Relationship Type="http://schemas.openxmlformats.org/officeDocument/2006/relationships/officeDocument" Target="/ppt/presentation.xml" Id="Rc3d156d9a5894d99" /></Relationships>
</file>

<file path=ppt/presentation.xml><?xml version="1.0" encoding="utf-8"?>
<p:presentation xmlns:p="http://schemas.openxmlformats.org/presentationml/2006/main">
  <p:sldMasterIdLst>
    <p:sldMasterId xmlns:r="http://schemas.openxmlformats.org/officeDocument/2006/relationships" id="2147483648" r:id="Rcdeafafc8eb840ea"/>
  </p:sldMasterIdLst>
  <p:notesMasterIdLst>
    <p:notesMasterId xmlns:r="http://schemas.openxmlformats.org/officeDocument/2006/relationships" r:id="R94cb462050214313"/>
  </p:notesMasterIdLst>
  <p:sldIdLst>
    <p:sldId xmlns:r="http://schemas.openxmlformats.org/officeDocument/2006/relationships" id="256" r:id="R9a279348735a4276"/>
    <p:sldId xmlns:r="http://schemas.openxmlformats.org/officeDocument/2006/relationships" id="257" r:id="R90f1a7d3ff954773"/>
    <p:sldId xmlns:r="http://schemas.openxmlformats.org/officeDocument/2006/relationships" id="258" r:id="R57fdcbb0c24f48aa"/>
    <p:sldId xmlns:r="http://schemas.openxmlformats.org/officeDocument/2006/relationships" id="259" r:id="Rb78fc93e7a4e489c"/>
    <p:sldId xmlns:r="http://schemas.openxmlformats.org/officeDocument/2006/relationships" id="260" r:id="Rc06e67cfee484a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e289f182404cb4" /><Relationship Type="http://schemas.openxmlformats.org/officeDocument/2006/relationships/slideMaster" Target="/ppt/slideMasters/slideMaster1.xml" Id="Rcdeafafc8eb840ea" /><Relationship Type="http://schemas.openxmlformats.org/officeDocument/2006/relationships/notesMaster" Target="/ppt/notesMasters/notesMaster1.xml" Id="R94cb462050214313" /><Relationship Type="http://schemas.openxmlformats.org/officeDocument/2006/relationships/presProps" Target="/ppt/presProps.xml" Id="Ra27bf35cd9724767" /><Relationship Type="http://schemas.openxmlformats.org/officeDocument/2006/relationships/tableStyles" Target="/ppt/tableStyles.xml" Id="R9c578dfe99af487b" /><Relationship Type="http://schemas.openxmlformats.org/officeDocument/2006/relationships/slide" Target="/ppt/slides/slide1.xml" Id="R9a279348735a4276" /><Relationship Type="http://schemas.openxmlformats.org/officeDocument/2006/relationships/slide" Target="/ppt/slides/slide2.xml" Id="R90f1a7d3ff954773" /><Relationship Type="http://schemas.openxmlformats.org/officeDocument/2006/relationships/slide" Target="/ppt/slides/slide3.xml" Id="R57fdcbb0c24f48aa" /><Relationship Type="http://schemas.openxmlformats.org/officeDocument/2006/relationships/slide" Target="/ppt/slides/slide4.xml" Id="Rb78fc93e7a4e489c" /><Relationship Type="http://schemas.openxmlformats.org/officeDocument/2006/relationships/slide" Target="/ppt/slides/slide5.xml" Id="Rc06e67cfee484a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4184bced3b42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ce629fce73475b" /><Relationship Type="http://schemas.openxmlformats.org/officeDocument/2006/relationships/notesMaster" Target="/ppt/notesMasters/notesMaster1.xml" Id="Rbe9b460f7b3f4f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37490f4be34ed0" /><Relationship Type="http://schemas.openxmlformats.org/officeDocument/2006/relationships/notesMaster" Target="/ppt/notesMasters/notesMaster1.xml" Id="R2c62b33bbad843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61baf4db6a4bcb" /><Relationship Type="http://schemas.openxmlformats.org/officeDocument/2006/relationships/notesMaster" Target="/ppt/notesMasters/notesMaster1.xml" Id="R9b104c02fb9a4b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15f5cb496d4172" /><Relationship Type="http://schemas.openxmlformats.org/officeDocument/2006/relationships/notesMaster" Target="/ppt/notesMasters/notesMaster1.xml" Id="R24b96f8d60454c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476ef84f5c4020" /><Relationship Type="http://schemas.openxmlformats.org/officeDocument/2006/relationships/notesMaster" Target="/ppt/notesMasters/notesMaster1.xml" Id="R5dc5eaf9bc75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Daanish. About 1 minute 20 seconds.</a:t>
            </a:r>
          </a:p>
          <a:p xmlns:a="http://schemas.openxmlformats.org/drawingml/2006/main">
            <a:r>
              <a:t/>
            </a:r>
          </a:p>
          <a:p xmlns:a="http://schemas.openxmlformats.org/drawingml/2006/main">
            <a:r>
              <a:t>Hello, we are Daanish, Andrei and Rio. Our project asks: can exchange rates and global food prices help us predict food inflation in Turkey?</a:t>
            </a:r>
          </a:p>
          <a:p xmlns:a="http://schemas.openxmlformats.org/drawingml/2006/main">
            <a:r>
              <a:t/>
            </a:r>
          </a:p>
          <a:p xmlns:a="http://schemas.openxmlformats.org/drawingml/2006/main">
            <a:r>
              <a:t>Food prices matter for household budgets. We want to predict how much they change from one month to the next.</a:t>
            </a:r>
          </a:p>
          <a:p xmlns:a="http://schemas.openxmlformats.org/drawingml/2006/main">
            <a:r>
              <a:t/>
            </a:r>
          </a:p>
          <a:p xmlns:a="http://schemas.openxmlformats.org/drawingml/2006/main">
            <a:r>
              <a:t>To measure this, we use the food part of the Consumer Price Index, or CPI. It includes food and non-alcoholic drinks bought by households.</a:t>
            </a:r>
          </a:p>
          <a:p xmlns:a="http://schemas.openxmlformats.org/drawingml/2006/main">
            <a:r>
              <a:t/>
            </a:r>
          </a:p>
          <a:p xmlns:a="http://schemas.openxmlformats.org/drawingml/2006/main">
            <a:r>
              <a:t>We plan to use linear regression with lagged inputs. These are values from earlier months. The baseline uses past food inflation. The second model also uses earlier exchange-rate changes and global food-price changes.</a:t>
            </a:r>
          </a:p>
          <a:p xmlns:a="http://schemas.openxmlformats.org/drawingml/2006/main">
            <a:r>
              <a:t/>
            </a:r>
          </a:p>
          <a:p xmlns:a="http://schemas.openxmlformats.org/drawingml/2006/main">
            <a:r>
              <a:t>We will compare their prediction errors on later months. If the extra data do not reduce those errors, our answer will be no.</a:t>
            </a:r>
          </a:p>
          <a:p xmlns:a="http://schemas.openxmlformats.org/drawingml/2006/main">
            <a:r>
              <a:t/>
            </a:r>
          </a:p>
          <a:p xmlns:a="http://schemas.openxmlformats.org/drawingml/2006/main">
            <a:r>
              <a:t>Andrei wrote our download code. He will explain the sources and the checks we have completed.</a:t>
            </a:r>
          </a:p>
          <a:p xmlns:a="http://schemas.openxmlformats.org/drawingml/2006/main">
            <a:r>
              <a:t/>
            </a:r>
          </a:p>
          <a:p xmlns:a="http://schemas.openxmlformats.org/drawingml/2006/main">
            <a:r>
              <a:t>Sources</a:t>
            </a:r>
          </a:p>
          <a:p xmlns:a="http://schemas.openxmlformats.org/drawingml/2006/main">
            <a:r>
              <a:t/>
            </a:r>
          </a:p>
          <a:p xmlns:a="http://schemas.openxmlformats.org/drawingml/2006/main">
            <a:r>
              <a:t>TÜİK CPI release and metadata: https://veriportali.tuik.gov.tr/en/press/58289</a:t>
            </a:r>
          </a:p>
          <a:p xmlns:a="http://schemas.openxmlformats.org/drawingml/2006/main">
            <a:r>
              <a:t/>
            </a:r>
          </a:p>
          <a:p xmlns:a="http://schemas.openxmlformats.org/drawingml/2006/main">
            <a:r>
              <a:t>CPI and exchange-rate download service: https://evds3.tcmb.gov.tr/</a:t>
            </a:r>
          </a:p>
          <a:p xmlns:a="http://schemas.openxmlformats.org/drawingml/2006/main">
            <a:r>
              <a:t/>
            </a:r>
          </a:p>
          <a:p xmlns:a="http://schemas.openxmlformats.org/drawingml/2006/main">
            <a:r>
              <a:t>EVDS terms: https://evds2.tcmb.gov.tr/help/videos/EVDS_Disclaimer.pdf . English labels are our own simplified translations, not official CBRT translations.</a:t>
            </a:r>
          </a:p>
          <a:p xmlns:a="http://schemas.openxmlformats.org/drawingml/2006/main">
            <a:r>
              <a:t/>
            </a:r>
          </a:p>
          <a:p xmlns:a="http://schemas.openxmlformats.org/drawingml/2006/main">
            <a:r>
              <a:t>FAO. 2026. World Food Situation: Food Price Index. https://www.fao.org/worldfoodsituation/foodpricesindex/en/ . Data accessed 14 October 2026; definition and terms checked 18 October 2026. Licence: CC BY 4.0, subject to FAO database terms at https://www.fao.org/contact-us/terms/db-terms-of-use/en/.</a:t>
            </a:r>
          </a:p>
          <a:p xmlns:a="http://schemas.openxmlformats.org/drawingml/2006/main">
            <a:r>
              <a:t/>
            </a:r>
          </a:p>
          <a:p xmlns:a="http://schemas.openxmlformats.org/drawingml/2006/main">
            <a:r>
              <a:t>All data sizes, date coverage and null counts: food_inflation.ipynb, executed Proposal data check section on saved CSVs, 18 October 2026.</a:t>
            </a:r>
          </a:p>
          <a:p xmlns:a="http://schemas.openxmlformats.org/drawingml/2006/main">
            <a:r>
              <a:t/>
            </a:r>
          </a:p>
          <a:p xmlns:a="http://schemas.openxmlformats.org/drawingml/2006/main">
            <a:r>
              <a:t>Project requirements: handout/DSA101_Project_Proposal_Brief_2026Fall.pdf and handout/DSA101_Project_Proposal_Template_2026Fall.docx.</a:t>
            </a:r>
          </a:p>
          <a:p xmlns:a="http://schemas.openxmlformats.org/drawingml/2006/main">
            <a:r>
              <a:t/>
            </a:r>
          </a:p>
          <a:p xmlns:a="http://schemas.openxmlformats.org/drawingml/2006/main">
            <a:r>
              <a:t>Decorative symbols reused from the team-provided Daanish presentation predicting-food-inflation-turkey-ed.pptx.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Andrei. About 1 minute.</a:t>
            </a:r>
          </a:p>
          <a:p xmlns:a="http://schemas.openxmlformats.org/drawingml/2006/main">
            <a:r>
              <a:t/>
            </a:r>
          </a:p>
          <a:p xmlns:a="http://schemas.openxmlformats.org/drawingml/2006/main">
            <a:r>
              <a:t>Thanks, Daanish. We use three sources: TurkStat's food CPI, the central bank's dollar-lira exchange rate, and the FAO Food Price Index. We download the Turkish data through the EVDS service.</a:t>
            </a:r>
          </a:p>
          <a:p xmlns:a="http://schemas.openxmlformats.org/drawingml/2006/main">
            <a:r>
              <a:t/>
            </a:r>
          </a:p>
          <a:p xmlns:a="http://schemas.openxmlformats.org/drawingml/2006/main">
            <a:r>
              <a:t>FAO is the Food and Agriculture Organization of the United Nations. Its index tracks prices of food traded internationally. The exchange rate tells us how many lira one US dollar costs.</a:t>
            </a:r>
          </a:p>
          <a:p xmlns:a="http://schemas.openxmlformats.org/drawingml/2006/main">
            <a:r>
              <a:t/>
            </a:r>
          </a:p>
          <a:p xmlns:a="http://schemas.openxmlformats.org/drawingml/2006/main">
            <a:r>
              <a:t>I wrote code to download these files and load them in pandas. I kept the source dates and gave the columns clear names. CPI and FAO are monthly. The exchange-rate file has one row per calendar day. The table shows the loaded file sizes.</a:t>
            </a:r>
          </a:p>
          <ns0:p xmlns:ns0="http://schemas.openxmlformats.org/drawingml/2006/main"/>
          <ns0:p xmlns:ns0="http://schemas.openxmlformats.org/drawingml/2006/main">
            <ns0:r>
              <ns0:t>Dataset links and series codes. Reference material, not part of the spoken script.</ns0:t>
            </ns0:r>
          </ns0:p>
          <ns0:p xmlns:ns0="http://schemas.openxmlformats.org/drawingml/2006/main"/>
          <ns0:p xmlns:ns0="http://schemas.openxmlformats.org/drawingml/2006/main">
            <ns0:r>
              <ns0:t>Turkish food CPI: TÜİK via TCMB EVDS. EVDS portal: https://evds3.tcmb.gov.tr/ . Target series: TP.TUKFIY2025.01, food and non-alcoholic beverages. Other downloaded CPI series: TP.TUKFIY2025.0111, TP.TUKFIY2025.0112, TP.TUKFIY2025.0114 and TP.TUKFIY2025.0115. TÜİK release and metadata: https://veriportali.tuik.gov.tr/en/press/58289 .</ns0:t>
            </ns0:r>
          </ns0:p>
          <ns0:p xmlns:ns0="http://schemas.openxmlformats.org/drawingml/2006/main"/>
          <ns0:p xmlns:ns0="http://schemas.openxmlformats.org/drawingml/2006/main">
            <ns0:r>
              <ns0:t>USD/TRY: TCMB EVDS portal: https://evds3.tcmb.gov.tr/ . Series: TP.DK.USD.A.YTL, daily US dollar buying rate in Turkish lira. EVDS API downloads require an API key. The portal and series codes identify the datasets without exposing credentials.</ns0:t>
            </ns0:r>
          </ns0:p>
          <ns0:p xmlns:ns0="http://schemas.openxmlformats.org/drawingml/2006/main"/>
          <ns0:p xmlns:ns0="http://schemas.openxmlformats.org/drawingml/2006/main">
            <ns0:r>
              <ns0:t>FAO Food Price Index official data page: https://www.fao.org/worldfoodsituation/foodpricesindex/en/ . Monthly nominal indices CSV: https://www.fao.org/media/docs/worldfoodsituationlibraries/wfs-library/food_price_indices_data.csv?download=true&amp;sfvrsn=523ebd2a_84 . The CSV link is listed under Download datasets on the official FAO page.</ns0:t>
            </ns0:r>
          </ns0:p>
          <ns0:p xmlns:ns0="http://schemas.openxmlformats.org/drawingml/2006/main"/>
          <ns0:p xmlns:ns0="http://schemas.openxmlformats.org/drawingml/2006/main">
            <ns0:r>
              <ns0:t>Official link destinations checked on 18 October 2026. The TÜİK release page and EVDS portal use JavaScript. These are reference links; the saved project data were not refreshed.</ns0:t>
            </ns0:r>
          </ns0:p>
          <a:p xmlns:a="http://schemas.openxmlformats.org/drawingml/2006/main">
            <a:r>
              <a:t/>
            </a:r>
          </a:p>
          <a:p xmlns:a="http://schemas.openxmlformats.org/drawingml/2006/main">
            <a:r>
              <a:t>Say CPI as C P I and FAO as F A O. Raw file sizes include dates and metadata. The raw files contain index levels and exchange rates. Computing monthly changes is later work.</a:t>
            </a:r>
          </a:p>
          <a:p xmlns:a="http://schemas.openxmlformats.org/drawingml/2006/main">
            <a:r>
              <a:t/>
            </a:r>
          </a:p>
          <a:p xmlns:a="http://schemas.openxmlformats.org/drawingml/2006/main">
            <a:r>
              <a:t>Sources</a:t>
            </a:r>
          </a:p>
          <a:p xmlns:a="http://schemas.openxmlformats.org/drawingml/2006/main">
            <a:r>
              <a:t/>
            </a:r>
          </a:p>
          <a:p xmlns:a="http://schemas.openxmlformats.org/drawingml/2006/main">
            <a:r>
              <a:t>TÜİK CPI release and metadata: https://veriportali.tuik.gov.tr/en/press/58289</a:t>
            </a:r>
          </a:p>
          <a:p xmlns:a="http://schemas.openxmlformats.org/drawingml/2006/main">
            <a:r>
              <a:t/>
            </a:r>
          </a:p>
          <a:p xmlns:a="http://schemas.openxmlformats.org/drawingml/2006/main">
            <a:r>
              <a:t>CPI and exchange-rate download service: https://evds3.tcmb.gov.tr/</a:t>
            </a:r>
          </a:p>
          <a:p xmlns:a="http://schemas.openxmlformats.org/drawingml/2006/main">
            <a:r>
              <a:t/>
            </a:r>
          </a:p>
          <a:p xmlns:a="http://schemas.openxmlformats.org/drawingml/2006/main">
            <a:r>
              <a:t>EVDS terms: https://evds2.tcmb.gov.tr/help/videos/EVDS_Disclaimer.pdf . English labels are our own simplified translations, not official CBRT translations.</a:t>
            </a:r>
          </a:p>
          <a:p xmlns:a="http://schemas.openxmlformats.org/drawingml/2006/main">
            <a:r>
              <a:t/>
            </a:r>
          </a:p>
          <a:p xmlns:a="http://schemas.openxmlformats.org/drawingml/2006/main">
            <a:r>
              <a:t>FAO. 2026. World Food Situation: Food Price Index. https://www.fao.org/worldfoodsituation/foodpricesindex/en/ . Data accessed 14 October 2026; definition and terms checked 18 October 2026. Licence: CC BY 4.0, subject to FAO database terms at https://www.fao.org/contact-us/terms/db-terms-of-use/en/.</a:t>
            </a:r>
          </a:p>
          <a:p xmlns:a="http://schemas.openxmlformats.org/drawingml/2006/main">
            <a:r>
              <a:t/>
            </a:r>
          </a:p>
          <a:p xmlns:a="http://schemas.openxmlformats.org/drawingml/2006/main">
            <a:r>
              <a:t>All data sizes, date coverage and null counts: food_inflation.ipynb, executed Proposal data check section on saved CSVs, 18 October 2026.</a:t>
            </a:r>
          </a:p>
          <a:p xmlns:a="http://schemas.openxmlformats.org/drawingml/2006/main">
            <a:r>
              <a:t/>
            </a:r>
          </a:p>
          <a:p xmlns:a="http://schemas.openxmlformats.org/drawingml/2006/main">
            <a:r>
              <a:t>Project requirements: handout/DSA101_Project_Proposal_Brief_2026Fall.pdf and handout/DSA101_Project_Proposal_Template_2026Fall.docx.</a:t>
            </a:r>
          </a:p>
          <a:p xmlns:a="http://schemas.openxmlformats.org/drawingml/2006/main">
            <a:r>
              <a:t/>
            </a:r>
          </a:p>
          <a:p xmlns:a="http://schemas.openxmlformats.org/drawingml/2006/main">
            <a:r>
              <a:t>Decorative symbols reused from the team-provided Daanish presentation predicting-food-inflation-turkey-ed.pptx.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Andrei. About 1 minute.</a:t>
            </a:r>
          </a:p>
          <a:p xmlns:a="http://schemas.openxmlformats.org/drawingml/2006/main">
            <a:r>
              <a:t/>
            </a:r>
          </a:p>
          <a:p xmlns:a="http://schemas.openxmlformats.org/drawingml/2006/main">
            <a:r>
              <a:t>We found 2,470 blank daily exchange rates. Of these, 2,270 are weekend dates. The other 200 are weekdays and still need a calendar check. TCMB does not set rates on weekends or public holidays.</a:t>
            </a:r>
          </a:p>
          <a:p xmlns:a="http://schemas.openxmlformats.org/drawingml/2006/main">
            <a:r>
              <a:t/>
            </a:r>
          </a:p>
          <a:p xmlns:a="http://schemas.openxmlformats.org/drawingml/2006/main">
            <a:r>
              <a:t>We calculate each monthly average from the available daily rates. Then we add CPI and FAO data for the same month.</a:t>
            </a:r>
          </a:p>
          <a:p xmlns:a="http://schemas.openxmlformats.org/drawingml/2006/main">
            <a:r>
              <a:t/>
            </a:r>
          </a:p>
          <a:p xmlns:a="http://schemas.openxmlformats.org/drawingml/2006/main">
            <a:r>
              <a:t>The result has 261 monthly rows, from January 2005 to September 2026, with no missing numeric values.</a:t>
            </a:r>
          </a:p>
          <a:p xmlns:a="http://schemas.openxmlformats.org/drawingml/2006/main">
            <a:r>
              <a:t/>
            </a:r>
          </a:p>
          <a:p xmlns:a="http://schemas.openxmlformats.org/drawingml/2006/main">
            <a:r>
              <a:t>We still need monthly changes and publication-date checks before modeling. Rio will explain our test.</a:t>
            </a:r>
          </a:p>
          <a:p xmlns:a="http://schemas.openxmlformats.org/drawingml/2006/main">
            <a:r>
              <a:t/>
            </a:r>
          </a:p>
          <a:p xmlns:a="http://schemas.openxmlformats.org/drawingml/2006/main">
            <a:r>
              <a:t>The weekend split is calculated in the notebook audit. TCMB does not determine indicative rates on weekends, public holidays or half working days. The 200 weekday blanks have not each been matched to the holiday calendar. Source: https://www.tcmb.gov.tr/wps/wcm/connect/EN/TCMB%2BEN/Main%2BMenu/Core%2BFunctions/Exchange%2BRate%2BPolicy/Foreign%2BExchange%2Band%2BBanknotes%2BMarkets/Indicative%2BExchange%2BRates</a:t>
            </a:r>
          </a:p>
          <a:p xmlns:a="http://schemas.openxmlformats.org/drawingml/2006/main">
            <a:r>
              <a:t/>
            </a:r>
          </a:p>
          <a:p xmlns:a="http://schemas.openxmlformats.org/drawingml/2006/main">
            <a:r>
              <a:t>Every month has at least one published daily exchange rate. Monthly averages use available rates only. The raw daily missing values remain unfilled. The monthly coverage table contains levels and is not yet the final forecasting sample. This first look describes data availability and alignment, not predictive value.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TÜİK CPI release and metadata: https://veriportali.tuik.gov.tr/en/press/58289</a:t>
            </a:r>
          </a:p>
          <a:p xmlns:a="http://schemas.openxmlformats.org/drawingml/2006/main">
            <a:r>
              <a:t/>
            </a:r>
          </a:p>
          <a:p xmlns:a="http://schemas.openxmlformats.org/drawingml/2006/main">
            <a:r>
              <a:t>CPI and exchange-rate download service: https://evds3.tcmb.gov.tr/</a:t>
            </a:r>
          </a:p>
          <a:p xmlns:a="http://schemas.openxmlformats.org/drawingml/2006/main">
            <a:r>
              <a:t/>
            </a:r>
          </a:p>
          <a:p xmlns:a="http://schemas.openxmlformats.org/drawingml/2006/main">
            <a:r>
              <a:t>EVDS terms: https://evds2.tcmb.gov.tr/help/videos/EVDS_Disclaimer.pdf . English labels are our own simplified translations, not official CBRT translations.</a:t>
            </a:r>
          </a:p>
          <a:p xmlns:a="http://schemas.openxmlformats.org/drawingml/2006/main">
            <a:r>
              <a:t/>
            </a:r>
          </a:p>
          <a:p xmlns:a="http://schemas.openxmlformats.org/drawingml/2006/main">
            <a:r>
              <a:t>FAO. 2026. World Food Situation: Food Price Index. https://www.fao.org/worldfoodsituation/foodpricesindex/en/ . Data accessed 14 October 2026; definition and terms checked 18 October 2026. Licence: CC BY 4.0, subject to FAO database terms at https://www.fao.org/contact-us/terms/db-terms-of-use/en/.</a:t>
            </a:r>
          </a:p>
          <a:p xmlns:a="http://schemas.openxmlformats.org/drawingml/2006/main">
            <a:r>
              <a:t/>
            </a:r>
          </a:p>
          <a:p xmlns:a="http://schemas.openxmlformats.org/drawingml/2006/main">
            <a:r>
              <a:t>All data sizes, date coverage and null counts: food_inflation.ipynb, executed Proposal data check section on saved CSVs, 18 October 2026.</a:t>
            </a:r>
          </a:p>
          <a:p xmlns:a="http://schemas.openxmlformats.org/drawingml/2006/main">
            <a:r>
              <a:t/>
            </a:r>
          </a:p>
          <a:p xmlns:a="http://schemas.openxmlformats.org/drawingml/2006/main">
            <a:r>
              <a:t>Project requirements: handout/DSA101_Project_Proposal_Brief_2026Fall.pdf and handout/DSA101_Project_Proposal_Template_2026Fall.docx.</a:t>
            </a:r>
          </a:p>
          <a:p xmlns:a="http://schemas.openxmlformats.org/drawingml/2006/main">
            <a:r>
              <a:t/>
            </a:r>
          </a:p>
          <a:p xmlns:a="http://schemas.openxmlformats.org/drawingml/2006/main">
            <a:r>
              <a:t>Decorative symbols reused from the team-provided Daanish presentation predicting-food-inflation-turkey-ed.pptx.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Rio. About 50 seconds.</a:t>
            </a:r>
          </a:p>
          <a:p xmlns:a="http://schemas.openxmlformats.org/drawingml/2006/main">
            <a:r>
              <a:t/>
            </a:r>
          </a:p>
          <a:p xmlns:a="http://schemas.openxmlformats.org/drawingml/2006/main">
            <a:r>
              <a:t>Thanks, Andrei. The main risk is using data that were published after a prediction. To predict June before it starts, we must use only data published before June.</a:t>
            </a:r>
          </a:p>
          <a:p xmlns:a="http://schemas.openxmlformats.org/drawingml/2006/main">
            <a:r>
              <a:t/>
            </a:r>
          </a:p>
          <a:p xmlns:a="http://schemas.openxmlformats.org/drawingml/2006/main">
            <a:r>
              <a:t>We will test both regression models on the same months, using expanding-window validation.</a:t>
            </a:r>
          </a:p>
          <a:p xmlns:a="http://schemas.openxmlformats.org/drawingml/2006/main">
            <a:r>
              <a:t/>
            </a:r>
          </a:p>
          <a:p xmlns:a="http://schemas.openxmlformats.org/drawingml/2006/main">
            <a:r>
              <a:t>We train on earlier months and predict the next month. We compare the prediction with the actual value. Once that value is available, we can add it to the training data and repeat.</a:t>
            </a:r>
          </a:p>
          <a:p xmlns:a="http://schemas.openxmlformats.org/drawingml/2006/main">
            <a:r>
              <a:t/>
            </a:r>
          </a:p>
          <a:p xmlns:a="http://schemas.openxmlformats.org/drawingml/2006/main">
            <a:r>
              <a:t>Linear regression with lagged target values and extra predictors is an autoregressive model with external inputs. See https://www.statsmodels.org/stable/generated/statsmodels.tsa.ar_model.AutoReg.html . Both models use the same forecast dates and the same information cutoff. An initial 80/20 time split is an option, not a fixed decision. Training and tuning choices must not use the final test results.</a:t>
            </a:r>
          </a:p>
          <a:p xmlns:a="http://schemas.openxmlformats.org/drawingml/2006/main">
            <a:r>
              <a:t/>
            </a:r>
          </a:p>
          <a:p xmlns:a="http://schemas.openxmlformats.org/drawingml/2006/main">
            <a:r>
              <a:t>All methods are proposed later work. No model fitting or forecast evaluation has run. Release dates, lag choices, historical revisions and evaluation periods still need checks.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TÜİK CPI release and metadata: https://veriportali.tuik.gov.tr/en/press/58289</a:t>
            </a:r>
          </a:p>
          <a:p xmlns:a="http://schemas.openxmlformats.org/drawingml/2006/main">
            <a:r>
              <a:t/>
            </a:r>
          </a:p>
          <a:p xmlns:a="http://schemas.openxmlformats.org/drawingml/2006/main">
            <a:r>
              <a:t>CPI and exchange-rate download service: https://evds3.tcmb.gov.tr/</a:t>
            </a:r>
          </a:p>
          <a:p xmlns:a="http://schemas.openxmlformats.org/drawingml/2006/main">
            <a:r>
              <a:t/>
            </a:r>
          </a:p>
          <a:p xmlns:a="http://schemas.openxmlformats.org/drawingml/2006/main">
            <a:r>
              <a:t>EVDS terms: https://evds2.tcmb.gov.tr/help/videos/EVDS_Disclaimer.pdf . English labels are our own simplified translations, not official CBRT translations.</a:t>
            </a:r>
          </a:p>
          <a:p xmlns:a="http://schemas.openxmlformats.org/drawingml/2006/main">
            <a:r>
              <a:t/>
            </a:r>
          </a:p>
          <a:p xmlns:a="http://schemas.openxmlformats.org/drawingml/2006/main">
            <a:r>
              <a:t>FAO. 2026. World Food Situation: Food Price Index. https://www.fao.org/worldfoodsituation/foodpricesindex/en/ . Data accessed 14 October 2026; definition and terms checked 18 October 2026. Licence: CC BY 4.0, subject to FAO database terms at https://www.fao.org/contact-us/terms/db-terms-of-use/en/.</a:t>
            </a:r>
          </a:p>
          <a:p xmlns:a="http://schemas.openxmlformats.org/drawingml/2006/main">
            <a:r>
              <a:t/>
            </a:r>
          </a:p>
          <a:p xmlns:a="http://schemas.openxmlformats.org/drawingml/2006/main">
            <a:r>
              <a:t>All data sizes, date coverage and null counts: food_inflation.ipynb, executed Proposal data check section on saved CSVs, 18 October 2026.</a:t>
            </a:r>
          </a:p>
          <a:p xmlns:a="http://schemas.openxmlformats.org/drawingml/2006/main">
            <a:r>
              <a:t/>
            </a:r>
          </a:p>
          <a:p xmlns:a="http://schemas.openxmlformats.org/drawingml/2006/main">
            <a:r>
              <a:t>Project requirements: handout/DSA101_Project_Proposal_Brief_2026Fall.pdf and handout/DSA101_Project_Proposal_Template_2026Fall.docx.</a:t>
            </a:r>
          </a:p>
          <a:p xmlns:a="http://schemas.openxmlformats.org/drawingml/2006/main">
            <a:r>
              <a:t/>
            </a:r>
          </a:p>
          <a:p xmlns:a="http://schemas.openxmlformats.org/drawingml/2006/main">
            <a:r>
              <a:t>Decorative symbols reused from the team-provided Daanish presentation predicting-food-inflation-turkey-ed.pptx.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Rio. About 50 seconds.</a:t>
            </a:r>
          </a:p>
          <a:p xmlns:a="http://schemas.openxmlformats.org/drawingml/2006/main">
            <a:r>
              <a:t/>
            </a:r>
          </a:p>
          <a:p xmlns:a="http://schemas.openxmlformats.org/drawingml/2006/main">
            <a:r>
              <a:t>For this proposal, Andrei worked on the data, Daanish on the script, and I on the presentation.</a:t>
            </a:r>
          </a:p>
          <a:p xmlns:a="http://schemas.openxmlformats.org/drawingml/2006/main">
            <a:r>
              <a:t/>
            </a:r>
          </a:p>
          <a:p xmlns:a="http://schemas.openxmlformats.org/drawingml/2006/main">
            <a:r>
              <a:t>For the next stage, Andrei will finish the dataset and help build the regression models. Daanish will explore the data and create charts. I will run forecast evaluation and review errors.</a:t>
            </a:r>
          </a:p>
          <a:p xmlns:a="http://schemas.openxmlformats.org/drawingml/2006/main">
            <a:r>
              <a:t/>
            </a:r>
          </a:p>
          <a:p xmlns:a="http://schemas.openxmlformats.org/drawingml/2006/main">
            <a:r>
              <a:t>By the checkpoint on 23 November, we plan to have a documented monthly dataset, first charts, and an initial baseline comparison. We will all review results and prepare the report and presentations.</a:t>
            </a:r>
          </a:p>
          <a:p xmlns:a="http://schemas.openxmlformats.org/drawingml/2006/main">
            <a:r>
              <a:t/>
            </a:r>
          </a:p>
          <a:p xmlns:a="http://schemas.openxmlformats.org/drawingml/2006/main">
            <a:r>
              <a:t>For the proposal, Andrei worked on the data, Daanish on the script, and Rio on the presentation. Future roles are proposed. Andrei will finish the dataset and help build regression models; Daanish will explore the data and create charts; Rio will run forecast evaluation and review errors. Everyone will review results and prepare the report and presentations. No model fitting or forecast evaluation is complete. November 23 is the checkpoint. Final findings come later. The brief and separate template allow at most five slides and a five-minute presentation. This version follows the brief's five-slide outline. A separate one-page proposal PDF is required.</a:t>
            </a:r>
          </a:p>
          <a:p xmlns:a="http://schemas.openxmlformats.org/drawingml/2006/main">
            <a:r>
              <a:t/>
            </a:r>
          </a:p>
          <a:p xmlns:a="http://schemas.openxmlformats.org/drawingml/2006/main">
            <a:r>
              <a:t>Sources</a:t>
            </a:r>
          </a:p>
          <a:p xmlns:a="http://schemas.openxmlformats.org/drawingml/2006/main">
            <a:r>
              <a:t/>
            </a:r>
          </a:p>
          <a:p xmlns:a="http://schemas.openxmlformats.org/drawingml/2006/main">
            <a:r>
              <a:t>TÜİK CPI release and metadata: https://veriportali.tuik.gov.tr/en/press/58289</a:t>
            </a:r>
          </a:p>
          <a:p xmlns:a="http://schemas.openxmlformats.org/drawingml/2006/main">
            <a:r>
              <a:t/>
            </a:r>
          </a:p>
          <a:p xmlns:a="http://schemas.openxmlformats.org/drawingml/2006/main">
            <a:r>
              <a:t>CPI and exchange-rate download service: https://evds3.tcmb.gov.tr/</a:t>
            </a:r>
          </a:p>
          <a:p xmlns:a="http://schemas.openxmlformats.org/drawingml/2006/main">
            <a:r>
              <a:t/>
            </a:r>
          </a:p>
          <a:p xmlns:a="http://schemas.openxmlformats.org/drawingml/2006/main">
            <a:r>
              <a:t>EVDS terms: https://evds2.tcmb.gov.tr/help/videos/EVDS_Disclaimer.pdf . English labels are our own simplified translations, not official CBRT translations.</a:t>
            </a:r>
          </a:p>
          <a:p xmlns:a="http://schemas.openxmlformats.org/drawingml/2006/main">
            <a:r>
              <a:t/>
            </a:r>
          </a:p>
          <a:p xmlns:a="http://schemas.openxmlformats.org/drawingml/2006/main">
            <a:r>
              <a:t>FAO. 2026. World Food Situation: Food Price Index. https://www.fao.org/worldfoodsituation/foodpricesindex/en/ . Data accessed 14 October 2026; definition and terms checked 18 October 2026. Licence: CC BY 4.0, subject to FAO database terms at https://www.fao.org/contact-us/terms/db-terms-of-use/en/.</a:t>
            </a:r>
          </a:p>
          <a:p xmlns:a="http://schemas.openxmlformats.org/drawingml/2006/main">
            <a:r>
              <a:t/>
            </a:r>
          </a:p>
          <a:p xmlns:a="http://schemas.openxmlformats.org/drawingml/2006/main">
            <a:r>
              <a:t>All data sizes, date coverage and null counts: food_inflation.ipynb, executed Proposal data check section on saved CSVs, 18 October 2026.</a:t>
            </a:r>
          </a:p>
          <a:p xmlns:a="http://schemas.openxmlformats.org/drawingml/2006/main">
            <a:r>
              <a:t/>
            </a:r>
          </a:p>
          <a:p xmlns:a="http://schemas.openxmlformats.org/drawingml/2006/main">
            <a:r>
              <a:t>Project requirements: handout/DSA101_Project_Proposal_Brief_2026Fall.pdf and handout/DSA101_Project_Proposal_Template_2026Fall.docx.</a:t>
            </a:r>
          </a:p>
          <a:p xmlns:a="http://schemas.openxmlformats.org/drawingml/2006/main">
            <a:r>
              <a:t/>
            </a:r>
          </a:p>
          <a:p xmlns:a="http://schemas.openxmlformats.org/drawingml/2006/main">
            <a:r>
              <a:t>Decorative symbols reused from the team-provided Daanish presentation predicting-food-inflation-turkey-ed.pptx.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02e64b6f614b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405504264a461d" /><Relationship Type="http://schemas.openxmlformats.org/officeDocument/2006/relationships/slideLayout" Target="/ppt/slideLayouts/slideLayout1.xml" Id="Rd66a719bd22243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6a719bd22243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92e6b066194840" /><Relationship Type="http://schemas.openxmlformats.org/officeDocument/2006/relationships/image" Target="/ppt/media/image.png" Id="Rf6be6cba2fe44b48" /><Relationship Type="http://schemas.openxmlformats.org/officeDocument/2006/relationships/image" Target="/ppt/media/image2.png" Id="Ra67358e2c35441fa" /><Relationship Type="http://schemas.openxmlformats.org/officeDocument/2006/relationships/notesSlide" Target="/ppt/notesSlides/notesSlide1.xml" Id="R1bbdb61ff12146b1"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3ee601f310b47ff"/><Relationship Type="http://schemas.openxmlformats.org/officeDocument/2006/relationships/image" Target="/ppt/media/image3.png" Id="Rbfc5ff7bf38d4a14"/><Relationship Type="http://schemas.openxmlformats.org/officeDocument/2006/relationships/notesSlide" Target="/ppt/notesSlides/notesSlide2.xml" Id="Rd4433a6bc5904408"/><Relationship Id="rIdSourceCpi" Type="http://schemas.openxmlformats.org/officeDocument/2006/relationships/hyperlink" Target="https://evds3.tcmb.gov.tr/" TargetMode="External"/><Relationship Id="rIdSourceFx" Type="http://schemas.openxmlformats.org/officeDocument/2006/relationships/hyperlink" Target="https://evds3.tcmb.gov.tr/" TargetMode="External"/><Relationship Id="rIdSourceFao" Type="http://schemas.openxmlformats.org/officeDocument/2006/relationships/hyperlink" Target="https://www.fao.org/worldfoodsituation/foodpricesindex/en/" TargetMode="External"/></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6ff07b4844438d" /><Relationship Type="http://schemas.openxmlformats.org/officeDocument/2006/relationships/chart" Target="/ppt/slides/charts/chart1.xml" Id="Rd5367221804646af" /><Relationship Type="http://schemas.openxmlformats.org/officeDocument/2006/relationships/notesSlide" Target="/ppt/notesSlides/notesSlide3.xml" Id="Rd15851ea762b45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6c34968b5a41b2" /><Relationship Type="http://schemas.openxmlformats.org/officeDocument/2006/relationships/notesSlide" Target="/ppt/notesSlides/notesSlide4.xml" Id="R94b1c500b1ef4a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dfc9ce11bd4a11" /><Relationship Type="http://schemas.openxmlformats.org/officeDocument/2006/relationships/notesSlide" Target="/ppt/notesSlides/notesSlide5.xml" Id="Rfef8e570671f45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Blank rate values</c:v>
          </c:tx>
          <c:spPr>
            <a:solidFill xmlns:a="http://schemas.openxmlformats.org/drawingml/2006/main">
              <a:srgbClr val="16796E"/>
            </a:solidFill>
          </c:spPr>
          <c:dPt>
            <c:idx val="1"/>
            <c:invertIfNegative val="0"/>
            <c:spPr>
              <a:solidFill xmlns:a="http://schemas.openxmlformats.org/drawingml/2006/main">
                <a:srgbClr val="D4AC51"/>
              </a:solidFill>
            </c:spPr>
          </c:dPt>
          <c:cat>
            <c:strRef>
              <c:f>'Chart Data'!$A$2:$A$3</c:f>
              <c:strCache>
                <c:ptCount val="2"/>
                <c:pt idx="0">
                  <c:v>Weekend dates</c:v>
                </c:pt>
                <c:pt idx="1">
                  <c:v>Weekday dates</c:v>
                </c:pt>
              </c:strCache>
            </c:strRef>
          </c:cat>
          <c:val>
            <c:numRef>
              <c:f>'Chart Data'!$B$2:$B$3</c:f>
              <c:numCache>
                <c:formatCode>#,##0</c:formatCode>
                <c:ptCount val="2"/>
                <c:pt idx="0">
                  <c:v>2270</c:v>
                </c:pt>
                <c:pt idx="1">
                  <c:v>200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203844"/>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2"/>
            </a:solidFill>
          </a:ln>
        </c:spPr>
        <c:txPr>
          <a:bodyPr xmlns:a="http://schemas.openxmlformats.org/drawingml/2006/main" anchorCtr="1"/>
          <a:lstStyle xmlns:a="http://schemas.openxmlformats.org/drawingml/2006/main"/>
          <a:p xmlns:a="http://schemas.openxmlformats.org/drawingml/2006/main">
            <a:pPr>
              <a:defRPr sz="1725">
                <a:solidFill>
                  <a:srgbClr val="203844"/>
                </a:solidFill>
                <a:latin typeface="Arial"/>
                <a:ea typeface="Arial"/>
                <a:cs typeface="Arial"/>
              </a:defRPr>
            </a:pPr>
          </a:p>
        </c:txPr>
        <c:crossAx val="48672768"/>
      </c:catAx>
      <c:valAx>
        <c:axId val="48672768"/>
        <c:scaling>
          <c:orientation val="minMax"/>
          <c:max val="27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AF9F5"/>
        </a:solidFill>
        <a:ln xmlns:a="http://schemas.openxmlformats.org/drawingml/2006/main" w="0">
          <a:noFill/>
        </a:ln>
      </c:spPr>
    </c:plotArea>
    <c:plotVisOnly val="1"/>
  </c:chart>
  <c:spPr>
    <a:solidFill xmlns:a="http://schemas.openxmlformats.org/drawingml/2006/main">
      <a:srgbClr val="FAF9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34350"/>
        </a:solidFill>
      </p:bgPr>
    </p:bg>
    <p:spTree>
      <p:nvGrpSpPr>
        <p:cNvPr id="1" name=""/>
        <p:cNvGrpSpPr/>
        <p:nvPr/>
      </p:nvGrpSpPr>
      <p:grpSpPr>
        <a:xfrm xmlns:a="http://schemas.openxmlformats.org/drawingml/2006/main"/>
      </p:grpSpPr>
      <p:sp>
        <p:nvSpPr>
          <p:cNvPr id="11" name="deck-purpose">
            <a:extLst xmlns:a="http://schemas.openxmlformats.org/drawingml/2006/main">
              <a:ext uri="{FF2B5EF4-FFF2-40B4-BE49-F238E27FC236}">
                <a16:creationId xmlns:a16="http://schemas.microsoft.com/office/drawing/2014/main" id="{02319D03-A180-459C-A71F-21AACD0F8947}"/>
              </a:ext>
            </a:extLst>
          </p:cNvPr>
          <p:cNvSpPr>
            <a:spLocks xmlns:a="http://schemas.openxmlformats.org/drawingml/2006/main" noGrp="1"/>
          </p:cNvSpPr>
          <p:nvPr/>
        </p:nvSpPr>
        <p:spPr>
          <a:xfrm xmlns:a="http://schemas.openxmlformats.org/drawingml/2006/main">
            <a:off x="685800" y="40005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C4D3D5"/>
                </a:solidFill>
                <a:latin typeface="Arial"/>
                <a:ea typeface="Arial"/>
                <a:cs typeface="Arial"/>
              </a:defRPr>
            </a:pPr>
            <a:r>
              <a:rPr sz="1575" b="0">
                <a:solidFill>
                  <a:srgbClr val="C4D3D5"/>
                </a:solidFill>
                <a:latin typeface="Arial"/>
                <a:ea typeface="Arial"/>
                <a:cs typeface="Arial"/>
              </a:rPr>
              <a:t>DSA 101 project proposal</a:t>
            </a:r>
          </a:p>
        </p:txBody>
      </p:sp>
      <p:sp>
        <p:nvSpPr>
          <p:cNvPr id="2" name="title">
            <a:extLst xmlns:a="http://schemas.openxmlformats.org/drawingml/2006/main">
              <a:ext uri="{FF2B5EF4-FFF2-40B4-BE49-F238E27FC236}">
                <a16:creationId xmlns:a16="http://schemas.microsoft.com/office/drawing/2014/main" id="{71D4CA21-0E10-4332-A40B-10A3E73DD41C}"/>
              </a:ext>
            </a:extLst>
          </p:cNvPr>
          <p:cNvSpPr>
            <a:spLocks xmlns:a="http://schemas.openxmlformats.org/drawingml/2006/main" noGrp="1"/>
          </p:cNvSpPr>
          <p:nvPr/>
        </p:nvSpPr>
        <p:spPr>
          <a:xfrm xmlns:a="http://schemas.openxmlformats.org/drawingml/2006/main">
            <a:off x="685800" y="971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Predicting food inflation</a:t>
            </a:r>
          </a:p>
        </p:txBody>
      </p:sp>
      <p:sp>
        <p:nvSpPr>
          <p:cNvPr id="3" name="title-country">
            <a:extLst xmlns:a="http://schemas.openxmlformats.org/drawingml/2006/main">
              <a:ext uri="{FF2B5EF4-FFF2-40B4-BE49-F238E27FC236}">
                <a16:creationId xmlns:a16="http://schemas.microsoft.com/office/drawing/2014/main" id="{7BA082B1-E71E-4083-8742-20AAE7F1A03A}"/>
              </a:ext>
            </a:extLst>
          </p:cNvPr>
          <p:cNvSpPr>
            <a:spLocks xmlns:a="http://schemas.openxmlformats.org/drawingml/2006/main" noGrp="1"/>
          </p:cNvSpPr>
          <p:nvPr/>
        </p:nvSpPr>
        <p:spPr>
          <a:xfrm xmlns:a="http://schemas.openxmlformats.org/drawingml/2006/main">
            <a:off x="685800" y="17240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F0C960"/>
                </a:solidFill>
                <a:latin typeface="Arial"/>
                <a:ea typeface="Arial"/>
                <a:cs typeface="Arial"/>
              </a:defRPr>
            </a:pPr>
            <a:r>
              <a:rPr sz="4500" b="1">
                <a:solidFill>
                  <a:srgbClr val="F0C960"/>
                </a:solidFill>
                <a:latin typeface="Arial"/>
                <a:ea typeface="Arial"/>
                <a:cs typeface="Arial"/>
              </a:rPr>
              <a:t>in Turkey</a:t>
            </a:r>
          </a:p>
        </p:txBody>
      </p:sp>
      <p:sp>
        <p:nvSpPr>
          <p:cNvPr id="4" name="question">
            <a:extLst xmlns:a="http://schemas.openxmlformats.org/drawingml/2006/main">
              <a:ext uri="{FF2B5EF4-FFF2-40B4-BE49-F238E27FC236}">
                <a16:creationId xmlns:a16="http://schemas.microsoft.com/office/drawing/2014/main" id="{8D410012-682A-471E-8928-6E6C2C0BA955}"/>
              </a:ext>
            </a:extLst>
          </p:cNvPr>
          <p:cNvSpPr>
            <a:spLocks xmlns:a="http://schemas.openxmlformats.org/drawingml/2006/main" noGrp="1"/>
          </p:cNvSpPr>
          <p:nvPr/>
        </p:nvSpPr>
        <p:spPr>
          <a:xfrm xmlns:a="http://schemas.openxmlformats.org/drawingml/2006/main">
            <a:off x="685800" y="2952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Can exchange rates and global food prices help us predict food inflation in Turkey?</a:t>
            </a:r>
          </a:p>
        </p:txBody>
      </p:sp>
      <p:sp>
        <p:nvSpPr>
          <p:cNvPr id="5" name="target">
            <a:extLst xmlns:a="http://schemas.openxmlformats.org/drawingml/2006/main">
              <a:ext uri="{FF2B5EF4-FFF2-40B4-BE49-F238E27FC236}">
                <a16:creationId xmlns:a16="http://schemas.microsoft.com/office/drawing/2014/main" id="{9B141D00-4353-4B4B-86FE-E55BDB42FFD8}"/>
              </a:ext>
            </a:extLst>
          </p:cNvPr>
          <p:cNvSpPr>
            <a:spLocks xmlns:a="http://schemas.openxmlformats.org/drawingml/2006/main" noGrp="1"/>
          </p:cNvSpPr>
          <p:nvPr/>
        </p:nvSpPr>
        <p:spPr>
          <a:xfrm xmlns:a="http://schemas.openxmlformats.org/drawingml/2006/main">
            <a:off x="685800" y="4419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DDE6E7"/>
                </a:solidFill>
                <a:latin typeface="Arial"/>
                <a:ea typeface="Arial"/>
                <a:cs typeface="Arial"/>
              </a:defRPr>
            </a:pPr>
            <a:r>
              <a:rPr sz="1875" b="0">
                <a:solidFill>
                  <a:srgbClr val="DDE6E7"/>
                </a:solidFill>
                <a:latin typeface="Arial"/>
                <a:ea typeface="Arial"/>
                <a:cs typeface="Arial"/>
              </a:rPr>
              <a:t>Target: the percentage change in food prices each month.</a:t>
            </a:r>
          </a:p>
        </p:txBody>
      </p:sp>
      <p:sp>
        <p:nvSpPr>
          <p:cNvPr id="6" name="negative-answer">
            <a:extLst xmlns:a="http://schemas.openxmlformats.org/drawingml/2006/main">
              <a:ext uri="{FF2B5EF4-FFF2-40B4-BE49-F238E27FC236}">
                <a16:creationId xmlns:a16="http://schemas.microsoft.com/office/drawing/2014/main" id="{D013ADC1-FFA9-4F6A-AA25-A9874A4A514F}"/>
              </a:ext>
            </a:extLst>
          </p:cNvPr>
          <p:cNvSpPr>
            <a:spLocks xmlns:a="http://schemas.openxmlformats.org/drawingml/2006/main" noGrp="1"/>
          </p:cNvSpPr>
          <p:nvPr/>
        </p:nvSpPr>
        <p:spPr>
          <a:xfrm xmlns:a="http://schemas.openxmlformats.org/drawingml/2006/main">
            <a:off x="685800" y="51435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If adding these data does not reduce prediction errors,</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our answer will be no.</a:t>
            </a:r>
          </a:p>
        </p:txBody>
      </p:sp>
      <p:sp>
        <p:nvSpPr>
          <p:cNvPr id="7" name="team">
            <a:extLst xmlns:a="http://schemas.openxmlformats.org/drawingml/2006/main">
              <a:ext uri="{FF2B5EF4-FFF2-40B4-BE49-F238E27FC236}">
                <a16:creationId xmlns:a16="http://schemas.microsoft.com/office/drawing/2014/main" id="{E6F216E8-959E-41D9-B534-BBB7F342E590}"/>
              </a:ext>
            </a:extLst>
          </p:cNvPr>
          <p:cNvSpPr>
            <a:spLocks xmlns:a="http://schemas.openxmlformats.org/drawingml/2006/main" noGrp="1"/>
          </p:cNvSpPr>
          <p:nvPr/>
        </p:nvSpPr>
        <p:spPr>
          <a:xfrm xmlns:a="http://schemas.openxmlformats.org/drawingml/2006/main">
            <a:off x="685800" y="6200775"/>
            <a:ext cx="981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F0C960"/>
                </a:solidFill>
                <a:latin typeface="Arial"/>
                <a:ea typeface="Arial"/>
                <a:cs typeface="Arial"/>
              </a:defRPr>
            </a:pPr>
            <a:r>
              <a:rPr sz="1650" b="0">
                <a:solidFill>
                  <a:srgbClr val="F0C960"/>
                </a:solidFill>
                <a:latin typeface="Arial"/>
                <a:ea typeface="Arial"/>
                <a:cs typeface="Arial"/>
              </a:rPr>
              <a:t>Daanish, Andrei and Rio</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be6cba2fe44b48"/>
          <a:stretch xmlns:a="http://schemas.openxmlformats.org/drawingml/2006/main"/>
        </p:blipFill>
        <p:spPr>
          <a:xfrm xmlns:a="http://schemas.openxmlformats.org/drawingml/2006/main">
            <a:off x="10001250" y="990600"/>
            <a:ext cx="533400" cy="5334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67358e2c35441fa"/>
          <a:stretch xmlns:a="http://schemas.openxmlformats.org/drawingml/2006/main"/>
        </p:blipFill>
        <p:spPr>
          <a:xfrm xmlns:a="http://schemas.openxmlformats.org/drawingml/2006/main">
            <a:off x="10858500" y="990600"/>
            <a:ext cx="533400" cy="533400"/>
          </a:xfrm>
          <a:prstGeom xmlns:a="http://schemas.openxmlformats.org/drawingml/2006/main" prst="rect">
            <a:avLst/>
          </a:prstGeom>
        </p:spPr>
      </p:pic>
      <p:sp>
        <p:nvSpPr>
          <p:cNvPr id="10" name="slide-number">
            <a:extLst xmlns:a="http://schemas.openxmlformats.org/drawingml/2006/main">
              <a:ext uri="{FF2B5EF4-FFF2-40B4-BE49-F238E27FC236}">
                <a16:creationId xmlns:a16="http://schemas.microsoft.com/office/drawing/2014/main" id="{CA548263-0A4B-40FF-B858-C6FCEAA95B9E}"/>
              </a:ext>
            </a:extLst>
          </p:cNvPr>
          <p:cNvSpPr>
            <a:spLocks xmlns:a="http://schemas.openxmlformats.org/drawingml/2006/main" noGrp="1"/>
          </p:cNvSpPr>
          <p:nvPr/>
        </p:nvSpPr>
        <p:spPr>
          <a:xfrm xmlns:a="http://schemas.openxmlformats.org/drawingml/2006/main">
            <a:off x="10953750" y="64198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C4D3D5"/>
                </a:solidFill>
                <a:latin typeface="Arial"/>
                <a:ea typeface="Arial"/>
                <a:cs typeface="Arial"/>
              </a:defRPr>
            </a:pPr>
            <a:r>
              <a:rPr sz="1350" b="0">
                <a:solidFill>
                  <a:srgbClr val="C4D3D5"/>
                </a:solidFill>
                <a:latin typeface="Arial"/>
                <a:ea typeface="Arial"/>
                <a:cs typeface="Arial"/>
              </a:rPr>
              <a:t>1 / 5</a:t>
            </a:r>
          </a:p>
        </p:txBody>
      </p:sp>
    </p:spTree>
    <p:extLst>
      <p:ext uri="{BB962C8B-B14F-4D97-AF65-F5344CB8AC3E}">
        <p14:creationId xmlns:p14="http://schemas.microsoft.com/office/powerpoint/2010/main" val="349330609"/>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5C39980-F4FD-4A47-ACF0-FE6233F30364}"/>
              </a:ext>
            </a:extLst>
          </p:cNvPr>
          <p:cNvSpPr>
            <a:spLocks xmlns:a="http://schemas.openxmlformats.org/drawingml/2006/main" noGrp="1"/>
          </p:cNvSpPr>
          <p:nvPr/>
        </p:nvSpPr>
        <p:spPr>
          <a:xfrm xmlns:a="http://schemas.openxmlformats.org/drawingml/2006/main">
            <a:off x="685800" y="514350"/>
            <a:ext cx="962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03844"/>
                </a:solidFill>
                <a:latin typeface="Arial"/>
                <a:ea typeface="Arial"/>
                <a:cs typeface="Arial"/>
              </a:defRPr>
            </a:pPr>
            <a:r>
              <a:rPr sz="3450" b="1">
                <a:solidFill>
                  <a:srgbClr val="203844"/>
                </a:solidFill>
                <a:latin typeface="Arial"/>
                <a:ea typeface="Arial"/>
                <a:cs typeface="Arial"/>
              </a:rPr>
              <a:t>The dataset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fc5ff7bf38d4a14"/>
          <a:stretch xmlns:a="http://schemas.openxmlformats.org/drawingml/2006/main"/>
        </p:blipFill>
        <p:spPr>
          <a:xfrm xmlns:a="http://schemas.openxmlformats.org/drawingml/2006/main">
            <a:off x="10810875" y="485775"/>
            <a:ext cx="590550" cy="590550"/>
          </a:xfrm>
          <a:prstGeom xmlns:a="http://schemas.openxmlformats.org/drawingml/2006/main" prst="rect">
            <a:avLst/>
          </a:prstGeom>
        </p:spPr>
      </p:pic>
      <p:graphicFrame>
        <p:nvGraphicFramePr>
          <p:cNvPr id="12" name=""/>
          <p:cNvGraphicFramePr/>
          <p:nvPr/>
        </p:nvGraphicFramePr>
        <p:xfrm>
          <a:off xmlns:a="http://schemas.openxmlformats.org/drawingml/2006/main" x="685800" y="1419225"/>
          <a:ext xmlns:a="http://schemas.openxmlformats.org/drawingml/2006/main" cx="10820400" cy="2476500"/>
        </p:xfrm>
        <a:graphic xmlns:a="http://schemas.openxmlformats.org/drawingml/2006/main">
          <a:graphicData uri="http://schemas.openxmlformats.org/drawingml/2006/table">
            <a:tbl>
              <a:tblPr/>
              <a:tblGrid>
                <a:gridCol w="3333750"/>
                <a:gridCol w="1905000"/>
                <a:gridCol w="2143125"/>
                <a:gridCol w="3438525"/>
              </a:tblGrid>
              <a:tr h="619125">
                <a:tc>
                  <a:txBody>
                    <a:bodyPr/>
                    <a:lstStyle/>
                    <a:p>
                      <a:r>
                        <a:rPr sz="1725" b="1">
                          <a:solidFill>
                            <a:srgbClr val="FFFFFF"/>
                          </a:solidFill>
                          <a:latin typeface="Arial"/>
                          <a:ea typeface="Arial"/>
                          <a:cs typeface="Arial"/>
                        </a:rPr>
                        <a:t>Source</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Rows × columns</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One row</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Period</a:t>
                      </a:r>
                    </a:p>
                  </a:txBody>
                  <a:tcPr marL="133350" marR="133350" marT="47625" marB="47625" anchor="ctr">
                    <a:solidFill>
                      <a:srgbClr val="234350"/>
                    </a:solidFill>
                  </a:tcPr>
                </a:tc>
              </a:tr>
              <a:tr h="619125">
                <a:tc>
                  <a:txBody>
                    <a:bodyPr/>
                    <a:lstStyle/>
                    <a:p>
                      <a:r>
                        <a:rPr sz="1800" b="0" u="none">
                          <a:solidFill>
                            <a:srgbClr val="203844"/>
                          </a:solidFill>
                          <a:latin typeface="Arial"/>
                          <a:ea typeface="Arial"/>
                          <a:cs typeface="Arial"/>
                          <a:hlinkClick xmlns:ns0="http://schemas.openxmlformats.org/officeDocument/2006/relationships" ns0:id="rIdSourceCpi" tooltip="TCMB EVDS. Food CPI series TP.TUKFIY2025.01"/>
                        </a:rPr>
                        <a:t>Turkish food CPI</a:t>
                      </a:r>
                    </a:p>
                    <a:p>
                      <a:r>
                        <a:rPr sz="1800" b="0" u="none">
                          <a:solidFill>
                            <a:srgbClr val="203844"/>
                          </a:solidFill>
                          <a:latin typeface="Arial"/>
                          <a:ea typeface="Arial"/>
                          <a:cs typeface="Arial"/>
                          <a:hlinkClick xmlns:ns1="http://schemas.openxmlformats.org/officeDocument/2006/relationships" ns1:id="rIdSourceCpi" tooltip="TCMB EVDS. Food CPI series TP.TUKFIY2025.01"/>
                        </a:rPr>
                        <a:t>TÜİK via TCMB EVDS</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261 × 7</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One month</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Jan 2005 to Sep 2026</a:t>
                      </a:r>
                    </a:p>
                  </a:txBody>
                  <a:tcPr marL="133350" marR="133350" marT="47625" marB="47625" anchor="ctr">
                    <a:solidFill>
                      <a:srgbClr val="FBE2DA"/>
                    </a:solidFill>
                  </a:tcPr>
                </a:tc>
              </a:tr>
              <a:tr h="619125">
                <a:tc>
                  <a:txBody>
                    <a:bodyPr/>
                    <a:lstStyle/>
                    <a:p>
                      <a:r>
                        <a:rPr sz="1800" b="0" u="none">
                          <a:solidFill>
                            <a:srgbClr val="203844"/>
                          </a:solidFill>
                          <a:latin typeface="Arial"/>
                          <a:ea typeface="Arial"/>
                          <a:cs typeface="Arial"/>
                          <a:hlinkClick xmlns:ns2="http://schemas.openxmlformats.org/officeDocument/2006/relationships" ns2:id="rIdSourceFx" tooltip="TCMB EVDS. USD/TRY buying rate series TP.DK.USD.A.YTL"/>
                        </a:rPr>
                        <a:t>USD/TRY</a:t>
                      </a:r>
                    </a:p>
                    <a:p>
                      <a:r>
                        <a:rPr sz="1800" b="0" u="none">
                          <a:solidFill>
                            <a:srgbClr val="203844"/>
                          </a:solidFill>
                          <a:latin typeface="Arial"/>
                          <a:ea typeface="Arial"/>
                          <a:cs typeface="Arial"/>
                          <a:hlinkClick xmlns:ns3="http://schemas.openxmlformats.org/officeDocument/2006/relationships" ns3:id="rIdSourceFx" tooltip="TCMB EVDS. USD/TRY buying rate series TP.DK.USD.A.YTL"/>
                        </a:rPr>
                        <a:t>TCMB EVDS</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7,943 × 3</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One calendar day</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Jan 2005 to Sep 2026</a:t>
                      </a:r>
                    </a:p>
                  </a:txBody>
                  <a:tcPr marL="133350" marR="133350" marT="47625" marB="47625" anchor="ctr">
                    <a:solidFill>
                      <a:srgbClr val="DFEAF0"/>
                    </a:solidFill>
                  </a:tcPr>
                </a:tc>
              </a:tr>
              <a:tr h="619125">
                <a:tc>
                  <a:txBody>
                    <a:bodyPr/>
                    <a:lstStyle/>
                    <a:p>
                      <a:r>
                        <a:rPr sz="1800" b="0" u="none">
                          <a:solidFill>
                            <a:srgbClr val="203844"/>
                          </a:solidFill>
                          <a:latin typeface="Arial"/>
                          <a:ea typeface="Arial"/>
                          <a:cs typeface="Arial"/>
                          <a:hlinkClick xmlns:ns4="http://schemas.openxmlformats.org/officeDocument/2006/relationships" ns4:id="rIdSourceFao" tooltip="FAO Food Price Index. Official page with monthly CSV download"/>
                        </a:rPr>
                        <a:t>Global food prices</a:t>
                      </a:r>
                    </a:p>
                    <a:p>
                      <a:r>
                        <a:rPr sz="1800" b="0" u="none">
                          <a:solidFill>
                            <a:srgbClr val="203844"/>
                          </a:solidFill>
                          <a:latin typeface="Arial"/>
                          <a:ea typeface="Arial"/>
                          <a:cs typeface="Arial"/>
                          <a:hlinkClick xmlns:ns5="http://schemas.openxmlformats.org/officeDocument/2006/relationships" ns5:id="rIdSourceFao" tooltip="FAO Food Price Index. Official page with monthly CSV download"/>
                        </a:rPr>
                        <a:t>FAO</a:t>
                      </a:r>
                    </a:p>
                  </a:txBody>
                  <a:tcPr marL="133350" marR="133350" marT="47625" marB="47625" anchor="ctr">
                    <a:solidFill>
                      <a:srgbClr val="DAEEEB"/>
                    </a:solidFill>
                  </a:tcPr>
                </a:tc>
                <a:tc>
                  <a:txBody>
                    <a:bodyPr/>
                    <a:lstStyle/>
                    <a:p>
                      <a:r>
                        <a:rPr sz="1800" b="0">
                          <a:solidFill>
                            <a:srgbClr val="203844"/>
                          </a:solidFill>
                          <a:latin typeface="Arial"/>
                          <a:ea typeface="Arial"/>
                          <a:cs typeface="Arial"/>
                        </a:rPr>
                        <a:t>441 × 7</a:t>
                      </a:r>
                    </a:p>
                  </a:txBody>
                  <a:tcPr marL="133350" marR="133350" marT="47625" marB="47625" anchor="ctr">
                    <a:solidFill>
                      <a:srgbClr val="DAEEEB"/>
                    </a:solidFill>
                  </a:tcPr>
                </a:tc>
                <a:tc>
                  <a:txBody>
                    <a:bodyPr/>
                    <a:lstStyle/>
                    <a:p>
                      <a:r>
                        <a:rPr sz="1800" b="0">
                          <a:solidFill>
                            <a:srgbClr val="203844"/>
                          </a:solidFill>
                          <a:latin typeface="Arial"/>
                          <a:ea typeface="Arial"/>
                          <a:cs typeface="Arial"/>
                        </a:rPr>
                        <a:t>One month</a:t>
                      </a:r>
                    </a:p>
                  </a:txBody>
                  <a:tcPr marL="133350" marR="133350" marT="47625" marB="47625" anchor="ctr">
                    <a:solidFill>
                      <a:srgbClr val="DAEEEB"/>
                    </a:solidFill>
                  </a:tcPr>
                </a:tc>
                <a:tc>
                  <a:txBody>
                    <a:bodyPr/>
                    <a:lstStyle/>
                    <a:p>
                      <a:r>
                        <a:rPr sz="1800" b="0">
                          <a:solidFill>
                            <a:srgbClr val="203844"/>
                          </a:solidFill>
                          <a:latin typeface="Arial"/>
                          <a:ea typeface="Arial"/>
                          <a:cs typeface="Arial"/>
                        </a:rPr>
                        <a:t>Jan 1990 to Sep 2026</a:t>
                      </a:r>
                    </a:p>
                  </a:txBody>
                  <a:tcPr marL="133350" marR="133350" marT="47625" marB="47625" anchor="ctr">
                    <a:solidFill>
                      <a:srgbClr val="DAEEEB"/>
                    </a:solidFill>
                  </a:tcPr>
                </a:tc>
              </a:tr>
            </a:tbl>
          </a:graphicData>
        </a:graphic>
      </p:graphicFrame>
      <p:sp>
        <p:nvSpPr>
          <p:cNvPr id="4" name="cpi-definition">
            <a:extLst xmlns:a="http://schemas.openxmlformats.org/drawingml/2006/main">
              <a:ext uri="{FF2B5EF4-FFF2-40B4-BE49-F238E27FC236}">
                <a16:creationId xmlns:a16="http://schemas.microsoft.com/office/drawing/2014/main" id="{EE006CE2-8438-471C-9790-76FAB85898A3}"/>
              </a:ext>
            </a:extLst>
          </p:cNvPr>
          <p:cNvSpPr>
            <a:spLocks xmlns:a="http://schemas.openxmlformats.org/drawingml/2006/main" noGrp="1"/>
          </p:cNvSpPr>
          <p:nvPr/>
        </p:nvSpPr>
        <p:spPr>
          <a:xfrm xmlns:a="http://schemas.openxmlformats.org/drawingml/2006/main">
            <a:off x="685800" y="43434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6796E"/>
                </a:solidFill>
                <a:latin typeface="Arial"/>
                <a:ea typeface="Arial"/>
                <a:cs typeface="Arial"/>
              </a:defRPr>
            </a:pPr>
            <a:r>
              <a:rPr sz="2100" b="1">
                <a:solidFill>
                  <a:srgbClr val="16796E"/>
                </a:solidFill>
                <a:latin typeface="Arial"/>
                <a:ea typeface="Arial"/>
                <a:cs typeface="Arial"/>
              </a:rPr>
              <a:t>CPI means Consumer Price Index</a:t>
            </a:r>
          </a:p>
        </p:txBody>
      </p:sp>
      <p:sp>
        <p:nvSpPr>
          <p:cNvPr id="5" name="cpi-coverage">
            <a:extLst xmlns:a="http://schemas.openxmlformats.org/drawingml/2006/main">
              <a:ext uri="{FF2B5EF4-FFF2-40B4-BE49-F238E27FC236}">
                <a16:creationId xmlns:a16="http://schemas.microsoft.com/office/drawing/2014/main" id="{40B48FDF-ACB0-4C7A-AFB7-D4888D1772E7}"/>
              </a:ext>
            </a:extLst>
          </p:cNvPr>
          <p:cNvSpPr>
            <a:spLocks xmlns:a="http://schemas.openxmlformats.org/drawingml/2006/main" noGrp="1"/>
          </p:cNvSpPr>
          <p:nvPr/>
        </p:nvSpPr>
        <p:spPr>
          <a:xfrm xmlns:a="http://schemas.openxmlformats.org/drawingml/2006/main">
            <a:off x="685800" y="4791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Our target covers food and non-alcoholic drinks bought by households.</a:t>
            </a:r>
          </a:p>
        </p:txBody>
      </p:sp>
      <p:sp>
        <p:nvSpPr>
          <p:cNvPr id="6" name="fao-definition">
            <a:extLst xmlns:a="http://schemas.openxmlformats.org/drawingml/2006/main">
              <a:ext uri="{FF2B5EF4-FFF2-40B4-BE49-F238E27FC236}">
                <a16:creationId xmlns:a16="http://schemas.microsoft.com/office/drawing/2014/main" id="{68BB2682-AA89-4C57-BFF7-AFA8F1BE9C25}"/>
              </a:ext>
            </a:extLst>
          </p:cNvPr>
          <p:cNvSpPr>
            <a:spLocks xmlns:a="http://schemas.openxmlformats.org/drawingml/2006/main" noGrp="1"/>
          </p:cNvSpPr>
          <p:nvPr/>
        </p:nvSpPr>
        <p:spPr>
          <a:xfrm xmlns:a="http://schemas.openxmlformats.org/drawingml/2006/main">
            <a:off x="685800" y="54102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6796E"/>
                </a:solidFill>
                <a:latin typeface="Arial"/>
                <a:ea typeface="Arial"/>
                <a:cs typeface="Arial"/>
              </a:defRPr>
            </a:pPr>
            <a:r>
              <a:rPr sz="1950" b="1">
                <a:solidFill>
                  <a:srgbClr val="16796E"/>
                </a:solidFill>
                <a:latin typeface="Arial"/>
                <a:ea typeface="Arial"/>
                <a:cs typeface="Arial"/>
              </a:rPr>
              <a:t>FAO is the Food and Agriculture Organization of the United Nations</a:t>
            </a:r>
          </a:p>
        </p:txBody>
      </p:sp>
      <p:sp>
        <p:nvSpPr>
          <p:cNvPr id="7" name="fao-coverage">
            <a:extLst xmlns:a="http://schemas.openxmlformats.org/drawingml/2006/main">
              <a:ext uri="{FF2B5EF4-FFF2-40B4-BE49-F238E27FC236}">
                <a16:creationId xmlns:a16="http://schemas.microsoft.com/office/drawing/2014/main" id="{21C34CA9-E114-4897-BB81-3095CBCDCF3D}"/>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Its Food Price Index tracks prices of food traded internationally.</a:t>
            </a:r>
          </a:p>
        </p:txBody>
      </p:sp>
      <p:sp>
        <p:nvSpPr>
          <p:cNvPr id="8" name="sources">
            <a:extLst xmlns:a="http://schemas.openxmlformats.org/drawingml/2006/main">
              <a:ext uri="{FF2B5EF4-FFF2-40B4-BE49-F238E27FC236}">
                <a16:creationId xmlns:a16="http://schemas.microsoft.com/office/drawing/2014/main" id="{D4A81A7A-78C6-4297-9304-C808B99106F2}"/>
              </a:ext>
            </a:extLst>
          </p:cNvPr>
          <p:cNvSpPr>
            <a:spLocks xmlns:a="http://schemas.openxmlformats.org/drawingml/2006/main" noGrp="1"/>
          </p:cNvSpPr>
          <p:nvPr/>
        </p:nvSpPr>
        <p:spPr>
          <a:xfrm xmlns:a="http://schemas.openxmlformats.org/drawingml/2006/main">
            <a:off x="685800" y="64198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A6A72"/>
                </a:solidFill>
                <a:latin typeface="Arial"/>
                <a:ea typeface="Arial"/>
                <a:cs typeface="Arial"/>
              </a:defRPr>
            </a:pPr>
            <a:r>
              <a:rPr sz="1350" b="0">
                <a:solidFill>
                  <a:srgbClr val="5A6A72"/>
                </a:solidFill>
                <a:latin typeface="Arial"/>
                <a:ea typeface="Arial"/>
                <a:cs typeface="Arial"/>
              </a:rPr>
              <a:t>Counts include dates and metadata. Sources (links): TÜİK, TCMB EVDS and FAO.</a:t>
            </a:r>
          </a:p>
        </p:txBody>
      </p:sp>
      <p:sp>
        <p:nvSpPr>
          <p:cNvPr id="9" name="slide-number">
            <a:extLst xmlns:a="http://schemas.openxmlformats.org/drawingml/2006/main">
              <a:ext uri="{FF2B5EF4-FFF2-40B4-BE49-F238E27FC236}">
                <a16:creationId xmlns:a16="http://schemas.microsoft.com/office/drawing/2014/main" id="{AA266757-1E0A-428C-9532-B77D8C193198}"/>
              </a:ext>
            </a:extLst>
          </p:cNvPr>
          <p:cNvSpPr>
            <a:spLocks xmlns:a="http://schemas.openxmlformats.org/drawingml/2006/main" noGrp="1"/>
          </p:cNvSpPr>
          <p:nvPr/>
        </p:nvSpPr>
        <p:spPr>
          <a:xfrm xmlns:a="http://schemas.openxmlformats.org/drawingml/2006/main">
            <a:off x="10953750" y="64198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A6A72"/>
                </a:solidFill>
                <a:latin typeface="Arial"/>
                <a:ea typeface="Arial"/>
                <a:cs typeface="Arial"/>
              </a:defRPr>
            </a:pPr>
            <a:r>
              <a:rPr sz="1350" b="0">
                <a:solidFill>
                  <a:srgbClr val="5A6A72"/>
                </a:solidFill>
                <a:latin typeface="Arial"/>
                <a:ea typeface="Arial"/>
                <a:cs typeface="Arial"/>
              </a:rPr>
              <a:t>2 / 5</a:t>
            </a:r>
          </a:p>
        </p:txBody>
      </p:sp>
    </p:spTree>
    <p:extLst>
      <p:ext uri="{BB962C8B-B14F-4D97-AF65-F5344CB8AC3E}">
        <p14:creationId xmlns:p14="http://schemas.microsoft.com/office/powerpoint/2010/main" val="164336800"/>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1711E105-E7C7-4EA7-AF6D-9A68D58B2F73}"/>
              </a:ext>
            </a:extLst>
          </p:cNvPr>
          <p:cNvSpPr>
            <a:spLocks xmlns:a="http://schemas.openxmlformats.org/drawingml/2006/main" noGrp="1"/>
          </p:cNvSpPr>
          <p:nvPr/>
        </p:nvSpPr>
        <p:spPr>
          <a:xfrm xmlns:a="http://schemas.openxmlformats.org/drawingml/2006/main">
            <a:off x="685800" y="5143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03844"/>
                </a:solidFill>
                <a:latin typeface="Arial"/>
                <a:ea typeface="Arial"/>
                <a:cs typeface="Arial"/>
              </a:defRPr>
            </a:pPr>
            <a:r>
              <a:rPr sz="3450" b="1">
                <a:solidFill>
                  <a:srgbClr val="203844"/>
                </a:solidFill>
                <a:latin typeface="Arial"/>
                <a:ea typeface="Arial"/>
                <a:cs typeface="Arial"/>
              </a:rPr>
              <a:t>What we checked in the data</a:t>
            </a:r>
          </a:p>
        </p:txBody>
      </p:sp>
      <p:sp>
        <p:nvSpPr>
          <p:cNvPr id="2" name="blank-heading">
            <a:extLst xmlns:a="http://schemas.openxmlformats.org/drawingml/2006/main">
              <a:ext uri="{FF2B5EF4-FFF2-40B4-BE49-F238E27FC236}">
                <a16:creationId xmlns:a16="http://schemas.microsoft.com/office/drawing/2014/main" id="{F896A133-B309-400E-8BDD-8F1FFC4A1909}"/>
              </a:ext>
            </a:extLst>
          </p:cNvPr>
          <p:cNvSpPr>
            <a:spLocks xmlns:a="http://schemas.openxmlformats.org/drawingml/2006/main" noGrp="1"/>
          </p:cNvSpPr>
          <p:nvPr/>
        </p:nvSpPr>
        <p:spPr>
          <a:xfrm xmlns:a="http://schemas.openxmlformats.org/drawingml/2006/main">
            <a:off x="685800" y="15811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03844"/>
                </a:solidFill>
                <a:latin typeface="Arial"/>
                <a:ea typeface="Arial"/>
                <a:cs typeface="Arial"/>
              </a:defRPr>
            </a:pPr>
            <a:r>
              <a:rPr sz="2175" b="1">
                <a:solidFill>
                  <a:srgbClr val="203844"/>
                </a:solidFill>
                <a:latin typeface="Arial"/>
                <a:ea typeface="Arial"/>
                <a:cs typeface="Arial"/>
              </a:rPr>
              <a:t>Most blanks are weekends</a:t>
            </a:r>
          </a:p>
        </p:txBody>
      </p:sp>
      <p:sp>
        <p:nvSpPr>
          <p:cNvPr id="3" name="blank-total">
            <a:extLst xmlns:a="http://schemas.openxmlformats.org/drawingml/2006/main">
              <a:ext uri="{FF2B5EF4-FFF2-40B4-BE49-F238E27FC236}">
                <a16:creationId xmlns:a16="http://schemas.microsoft.com/office/drawing/2014/main" id="{D90AD53F-FA40-46CB-A3D5-1ACF35E950CD}"/>
              </a:ext>
            </a:extLst>
          </p:cNvPr>
          <p:cNvSpPr>
            <a:spLocks xmlns:a="http://schemas.openxmlformats.org/drawingml/2006/main" noGrp="1"/>
          </p:cNvSpPr>
          <p:nvPr/>
        </p:nvSpPr>
        <p:spPr>
          <a:xfrm xmlns:a="http://schemas.openxmlformats.org/drawingml/2006/main">
            <a:off x="685800" y="20097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A6A72"/>
                </a:solidFill>
                <a:latin typeface="Arial"/>
                <a:ea typeface="Arial"/>
                <a:cs typeface="Arial"/>
              </a:defRPr>
            </a:pPr>
            <a:r>
              <a:rPr sz="1800" b="0">
                <a:solidFill>
                  <a:srgbClr val="5A6A72"/>
                </a:solidFill>
                <a:latin typeface="Arial"/>
                <a:ea typeface="Arial"/>
                <a:cs typeface="Arial"/>
              </a:rPr>
              <a:t>2,470 dates have no exchange rate</a:t>
            </a:r>
          </a:p>
        </p:txBody>
      </p:sp>
      <p:graphicFrame>
        <p:nvGraphicFramePr>
          <p:cNvPr id="20" name="Chart"/>
          <p:cNvGraphicFramePr/>
          <p:nvPr/>
        </p:nvGraphicFramePr>
        <p:xfrm>
          <a:off xmlns:a="http://schemas.openxmlformats.org/drawingml/2006/main" x="685800" y="2600325"/>
          <a:ext xmlns:a="http://schemas.openxmlformats.org/drawingml/2006/main" cx="5143500" cy="2057400"/>
        </p:xfrm>
        <a:graphic xmlns:a="http://schemas.openxmlformats.org/drawingml/2006/main">
          <a:graphicData uri="http://schemas.openxmlformats.org/drawingml/2006/chart">
            <c:chart xmlns:r="http://schemas.openxmlformats.org/officeDocument/2006/relationships" xmlns:c="http://schemas.openxmlformats.org/drawingml/2006/chart" r:id="Rd5367221804646af"/>
          </a:graphicData>
        </a:graphic>
      </p:graphicFrame>
      <p:sp>
        <p:nvSpPr>
          <p:cNvPr id="5" name="calendar-explanation">
            <a:extLst xmlns:a="http://schemas.openxmlformats.org/drawingml/2006/main">
              <a:ext uri="{FF2B5EF4-FFF2-40B4-BE49-F238E27FC236}">
                <a16:creationId xmlns:a16="http://schemas.microsoft.com/office/drawing/2014/main" id="{68DDDD67-056F-4749-B7C9-F4EB5D520491}"/>
              </a:ext>
            </a:extLst>
          </p:cNvPr>
          <p:cNvSpPr>
            <a:spLocks xmlns:a="http://schemas.openxmlformats.org/drawingml/2006/main" noGrp="1"/>
          </p:cNvSpPr>
          <p:nvPr/>
        </p:nvSpPr>
        <p:spPr>
          <a:xfrm xmlns:a="http://schemas.openxmlformats.org/drawingml/2006/main">
            <a:off x="685800" y="493395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203844"/>
                </a:solidFill>
                <a:latin typeface="Arial"/>
                <a:ea typeface="Arial"/>
                <a:cs typeface="Arial"/>
              </a:defRPr>
            </a:pPr>
            <a:r>
              <a:rPr sz="1800" b="0">
                <a:solidFill>
                  <a:srgbClr val="203844"/>
                </a:solidFill>
                <a:latin typeface="Arial"/>
                <a:ea typeface="Arial"/>
                <a:cs typeface="Arial"/>
              </a:rPr>
              <a:t>No rates on weekends or public holidays.</a:t>
            </a:r>
          </a:p>
        </p:txBody>
      </p:sp>
      <p:sp>
        <p:nvSpPr>
          <p:cNvPr id="6" name="weekday-limit">
            <a:extLst xmlns:a="http://schemas.openxmlformats.org/drawingml/2006/main">
              <a:ext uri="{FF2B5EF4-FFF2-40B4-BE49-F238E27FC236}">
                <a16:creationId xmlns:a16="http://schemas.microsoft.com/office/drawing/2014/main" id="{56C626D1-1444-4302-9CAA-B559F3BFD355}"/>
              </a:ext>
            </a:extLst>
          </p:cNvPr>
          <p:cNvSpPr>
            <a:spLocks xmlns:a="http://schemas.openxmlformats.org/drawingml/2006/main" noGrp="1"/>
          </p:cNvSpPr>
          <p:nvPr/>
        </p:nvSpPr>
        <p:spPr>
          <a:xfrm xmlns:a="http://schemas.openxmlformats.org/drawingml/2006/main">
            <a:off x="685800" y="5543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A6A72"/>
                </a:solidFill>
                <a:latin typeface="Arial"/>
                <a:ea typeface="Arial"/>
                <a:cs typeface="Arial"/>
              </a:defRPr>
            </a:pPr>
            <a:r>
              <a:rPr sz="1650" b="0">
                <a:solidFill>
                  <a:srgbClr val="5A6A72"/>
                </a:solidFill>
                <a:latin typeface="Arial"/>
                <a:ea typeface="Arial"/>
                <a:cs typeface="Arial"/>
              </a:rPr>
              <a:t>Weekday blanks still need a calendar check.</a:t>
            </a:r>
          </a:p>
        </p:txBody>
      </p:sp>
      <p:sp>
        <p:nvSpPr>
          <p:cNvPr id="7" name="process-heading">
            <a:extLst xmlns:a="http://schemas.openxmlformats.org/drawingml/2006/main">
              <a:ext uri="{FF2B5EF4-FFF2-40B4-BE49-F238E27FC236}">
                <a16:creationId xmlns:a16="http://schemas.microsoft.com/office/drawing/2014/main" id="{D02C2893-BA2D-43EA-9360-789EC495CEDE}"/>
              </a:ext>
            </a:extLst>
          </p:cNvPr>
          <p:cNvSpPr>
            <a:spLocks xmlns:a="http://schemas.openxmlformats.org/drawingml/2006/main" noGrp="1"/>
          </p:cNvSpPr>
          <p:nvPr/>
        </p:nvSpPr>
        <p:spPr>
          <a:xfrm xmlns:a="http://schemas.openxmlformats.org/drawingml/2006/main">
            <a:off x="6667500" y="158115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6796E"/>
                </a:solidFill>
                <a:latin typeface="Arial"/>
                <a:ea typeface="Arial"/>
                <a:cs typeface="Arial"/>
              </a:defRPr>
            </a:pPr>
            <a:r>
              <a:rPr sz="2175" b="1">
                <a:solidFill>
                  <a:srgbClr val="16796E"/>
                </a:solidFill>
                <a:latin typeface="Arial"/>
                <a:ea typeface="Arial"/>
                <a:cs typeface="Arial"/>
              </a:rPr>
              <a:t>Daily data to monthly data</a:t>
            </a:r>
          </a:p>
        </p:txBody>
      </p:sp>
      <p:sp>
        <p:nvSpPr>
          <p:cNvPr id="8" name="daily-rates">
            <a:extLst xmlns:a="http://schemas.openxmlformats.org/drawingml/2006/main">
              <a:ext uri="{FF2B5EF4-FFF2-40B4-BE49-F238E27FC236}">
                <a16:creationId xmlns:a16="http://schemas.microsoft.com/office/drawing/2014/main" id="{10B13DCC-882D-4E1B-A50B-745089F41094}"/>
              </a:ext>
            </a:extLst>
          </p:cNvPr>
          <p:cNvSpPr>
            <a:spLocks xmlns:a="http://schemas.openxmlformats.org/drawingml/2006/main" noGrp="1"/>
          </p:cNvSpPr>
          <p:nvPr/>
        </p:nvSpPr>
        <p:spPr>
          <a:xfrm xmlns:a="http://schemas.openxmlformats.org/drawingml/2006/main">
            <a:off x="6667500" y="2152650"/>
            <a:ext cx="4838700" cy="609600"/>
          </a:xfrm>
          <a:prstGeom xmlns:a="http://schemas.openxmlformats.org/drawingml/2006/main" prst="roundRect">
            <a:avLst>
              <a:gd name="adj" fmla="val 15625"/>
            </a:avLst>
          </a:prstGeom>
          <a:solidFill xmlns:a="http://schemas.openxmlformats.org/drawingml/2006/main">
            <a:srgbClr val="DFEAF0"/>
          </a:solidFill>
          <a:ln xmlns:a="http://schemas.openxmlformats.org/drawingml/2006/main" w="0">
            <a:no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203844"/>
                </a:solidFill>
                <a:latin typeface="Arial"/>
                <a:ea typeface="Arial"/>
                <a:cs typeface="Arial"/>
              </a:defRPr>
            </a:pPr>
            <a:r>
              <a:rPr sz="1875" b="1">
                <a:solidFill>
                  <a:srgbClr val="203844"/>
                </a:solidFill>
                <a:latin typeface="Arial"/>
                <a:ea typeface="Arial"/>
                <a:cs typeface="Arial"/>
              </a:rPr>
              <a:t>Daily USD/TRY rates</a:t>
            </a:r>
          </a:p>
        </p:txBody>
      </p:sp>
      <p:sp>
        <p:nvSpPr>
          <p:cNvPr id="9" name="monthly-mean">
            <a:extLst xmlns:a="http://schemas.openxmlformats.org/drawingml/2006/main">
              <a:ext uri="{FF2B5EF4-FFF2-40B4-BE49-F238E27FC236}">
                <a16:creationId xmlns:a16="http://schemas.microsoft.com/office/drawing/2014/main" id="{6BA1E6B5-6CC6-4C34-B4FD-5FEC262F1C6D}"/>
              </a:ext>
            </a:extLst>
          </p:cNvPr>
          <p:cNvSpPr>
            <a:spLocks xmlns:a="http://schemas.openxmlformats.org/drawingml/2006/main" noGrp="1"/>
          </p:cNvSpPr>
          <p:nvPr/>
        </p:nvSpPr>
        <p:spPr>
          <a:xfrm xmlns:a="http://schemas.openxmlformats.org/drawingml/2006/main">
            <a:off x="6667500" y="3133725"/>
            <a:ext cx="4838700" cy="609600"/>
          </a:xfrm>
          <a:prstGeom xmlns:a="http://schemas.openxmlformats.org/drawingml/2006/main" prst="roundRect">
            <a:avLst>
              <a:gd name="adj" fmla="val 15625"/>
            </a:avLst>
          </a:prstGeom>
          <a:solidFill xmlns:a="http://schemas.openxmlformats.org/drawingml/2006/main">
            <a:srgbClr val="DFEAF0"/>
          </a:solidFill>
          <a:ln xmlns:a="http://schemas.openxmlformats.org/drawingml/2006/main" w="0">
            <a:no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203844"/>
                </a:solidFill>
                <a:latin typeface="Arial"/>
                <a:ea typeface="Arial"/>
                <a:cs typeface="Arial"/>
              </a:defRPr>
            </a:pPr>
            <a:r>
              <a:rPr sz="1875" b="1">
                <a:solidFill>
                  <a:srgbClr val="203844"/>
                </a:solidFill>
                <a:latin typeface="Arial"/>
                <a:ea typeface="Arial"/>
                <a:cs typeface="Arial"/>
              </a:rPr>
              <a:t>Average for each month</a:t>
            </a:r>
          </a:p>
        </p:txBody>
      </p:sp>
      <p:sp>
        <p:nvSpPr>
          <p:cNvPr id="10" name="monthly-join">
            <a:extLst xmlns:a="http://schemas.openxmlformats.org/drawingml/2006/main">
              <a:ext uri="{FF2B5EF4-FFF2-40B4-BE49-F238E27FC236}">
                <a16:creationId xmlns:a16="http://schemas.microsoft.com/office/drawing/2014/main" id="{FD923386-A860-45D1-A1B2-EEFC9F6A4378}"/>
              </a:ext>
            </a:extLst>
          </p:cNvPr>
          <p:cNvSpPr>
            <a:spLocks xmlns:a="http://schemas.openxmlformats.org/drawingml/2006/main" noGrp="1"/>
          </p:cNvSpPr>
          <p:nvPr/>
        </p:nvSpPr>
        <p:spPr>
          <a:xfrm xmlns:a="http://schemas.openxmlformats.org/drawingml/2006/main">
            <a:off x="6667500" y="4114800"/>
            <a:ext cx="4838700" cy="609600"/>
          </a:xfrm>
          <a:prstGeom xmlns:a="http://schemas.openxmlformats.org/drawingml/2006/main" prst="roundRect">
            <a:avLst>
              <a:gd name="adj" fmla="val 15625"/>
            </a:avLst>
          </a:prstGeom>
          <a:solidFill xmlns:a="http://schemas.openxmlformats.org/drawingml/2006/main">
            <a:srgbClr val="DAEEEB"/>
          </a:solidFill>
          <a:ln xmlns:a="http://schemas.openxmlformats.org/drawingml/2006/main" w="0">
            <a:no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203844"/>
                </a:solidFill>
                <a:latin typeface="Arial"/>
                <a:ea typeface="Arial"/>
                <a:cs typeface="Arial"/>
              </a:defRPr>
            </a:pPr>
            <a:r>
              <a:rPr sz="1875" b="1">
                <a:solidFill>
                  <a:srgbClr val="203844"/>
                </a:solidFill>
                <a:latin typeface="Arial"/>
                <a:ea typeface="Arial"/>
                <a:cs typeface="Arial"/>
              </a:rPr>
              <a:t>Add monthly CPI and FAO data</a:t>
            </a:r>
          </a:p>
        </p:txBody>
      </p:sp>
      <p:sp>
        <p:nvSpPr>
          <p:cNvPr id="11" name="monthly-output">
            <a:extLst xmlns:a="http://schemas.openxmlformats.org/drawingml/2006/main">
              <a:ext uri="{FF2B5EF4-FFF2-40B4-BE49-F238E27FC236}">
                <a16:creationId xmlns:a16="http://schemas.microsoft.com/office/drawing/2014/main" id="{A4A203E2-E3BE-4BA8-928C-705B87FA4212}"/>
              </a:ext>
            </a:extLst>
          </p:cNvPr>
          <p:cNvSpPr>
            <a:spLocks xmlns:a="http://schemas.openxmlformats.org/drawingml/2006/main" noGrp="1"/>
          </p:cNvSpPr>
          <p:nvPr/>
        </p:nvSpPr>
        <p:spPr>
          <a:xfrm xmlns:a="http://schemas.openxmlformats.org/drawingml/2006/main">
            <a:off x="6667500" y="5095875"/>
            <a:ext cx="4838700" cy="819150"/>
          </a:xfrm>
          <a:prstGeom xmlns:a="http://schemas.openxmlformats.org/drawingml/2006/main" prst="roundRect">
            <a:avLst>
              <a:gd name="adj" fmla="val 11628"/>
            </a:avLst>
          </a:prstGeom>
          <a:solidFill xmlns:a="http://schemas.openxmlformats.org/drawingml/2006/main">
            <a:srgbClr val="16796E"/>
          </a:solidFill>
          <a:ln xmlns:a="http://schemas.openxmlformats.org/drawingml/2006/main" w="0">
            <a:no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261 monthly rows</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No missing numeric values</a:t>
            </a:r>
          </a:p>
        </p:txBody>
      </p:sp>
      <p:cxnSp>
        <p:nvCxnSpPr>
          <p:cNvPr id="28" name=""/>
          <p:cNvCxnSpPr>
            <a:stCxn xmlns:a="http://schemas.openxmlformats.org/drawingml/2006/main" id="8" idx="2"/>
            <a:endCxn xmlns:a="http://schemas.openxmlformats.org/drawingml/2006/main" id="9" idx="0"/>
          </p:cNvCxnSpPr>
          <p:nvPr/>
        </p:nvCxnSpPr>
        <p:spPr>
          <a:xfrm xmlns:a="http://schemas.openxmlformats.org/drawingml/2006/main">
            <a:off x="9086850" y="2762250"/>
            <a:ext cx="0" cy="371475"/>
          </a:xfrm>
          <a:prstGeom xmlns:a="http://schemas.openxmlformats.org/drawingml/2006/main" prst="straightConnector1">
            <a:avLst/>
          </a:prstGeom>
          <a:ln xmlns:a="http://schemas.openxmlformats.org/drawingml/2006/main" w="19050">
            <a:solidFill>
              <a:srgbClr val="16796E"/>
            </a:solidFill>
            <a:tailEnd type="triangle" w="med" len="med"/>
          </a:ln>
        </p:spPr>
      </p:cxnSp>
      <p:cxnSp>
        <p:nvCxnSpPr>
          <p:cNvPr id="29" name=""/>
          <p:cNvCxnSpPr>
            <a:stCxn xmlns:a="http://schemas.openxmlformats.org/drawingml/2006/main" id="9" idx="2"/>
            <a:endCxn xmlns:a="http://schemas.openxmlformats.org/drawingml/2006/main" id="10" idx="0"/>
          </p:cNvCxnSpPr>
          <p:nvPr/>
        </p:nvCxnSpPr>
        <p:spPr>
          <a:xfrm xmlns:a="http://schemas.openxmlformats.org/drawingml/2006/main">
            <a:off x="9086850" y="3743325"/>
            <a:ext cx="0" cy="371475"/>
          </a:xfrm>
          <a:prstGeom xmlns:a="http://schemas.openxmlformats.org/drawingml/2006/main" prst="straightConnector1">
            <a:avLst/>
          </a:prstGeom>
          <a:ln xmlns:a="http://schemas.openxmlformats.org/drawingml/2006/main" w="19050">
            <a:solidFill>
              <a:srgbClr val="16796E"/>
            </a:solidFill>
            <a:tailEnd type="triangle" w="med" len="med"/>
          </a:ln>
        </p:spPr>
      </p:cxnSp>
      <p:cxnSp>
        <p:nvCxnSpPr>
          <p:cNvPr id="30" name=""/>
          <p:cNvCxnSpPr>
            <a:stCxn xmlns:a="http://schemas.openxmlformats.org/drawingml/2006/main" id="10" idx="2"/>
            <a:endCxn xmlns:a="http://schemas.openxmlformats.org/drawingml/2006/main" id="11" idx="0"/>
          </p:cNvCxnSpPr>
          <p:nvPr/>
        </p:nvCxnSpPr>
        <p:spPr>
          <a:xfrm xmlns:a="http://schemas.openxmlformats.org/drawingml/2006/main">
            <a:off x="9086850" y="4724400"/>
            <a:ext cx="0" cy="371475"/>
          </a:xfrm>
          <a:prstGeom xmlns:a="http://schemas.openxmlformats.org/drawingml/2006/main" prst="straightConnector1">
            <a:avLst/>
          </a:prstGeom>
          <a:ln xmlns:a="http://schemas.openxmlformats.org/drawingml/2006/main" w="19050">
            <a:solidFill>
              <a:srgbClr val="16796E"/>
            </a:solidFill>
            <a:tailEnd type="triangle" w="med" len="med"/>
          </a:ln>
        </p:spPr>
      </p:cxnSp>
      <p:sp>
        <p:nvSpPr>
          <p:cNvPr id="15" name="period-and-limit">
            <a:extLst xmlns:a="http://schemas.openxmlformats.org/drawingml/2006/main">
              <a:ext uri="{FF2B5EF4-FFF2-40B4-BE49-F238E27FC236}">
                <a16:creationId xmlns:a16="http://schemas.microsoft.com/office/drawing/2014/main" id="{148DED99-F4CF-42A7-B7F2-9B272CEAD803}"/>
              </a:ext>
            </a:extLst>
          </p:cNvPr>
          <p:cNvSpPr>
            <a:spLocks xmlns:a="http://schemas.openxmlformats.org/drawingml/2006/main" noGrp="1"/>
          </p:cNvSpPr>
          <p:nvPr/>
        </p:nvSpPr>
        <p:spPr>
          <a:xfrm xmlns:a="http://schemas.openxmlformats.org/drawingml/2006/main">
            <a:off x="685800" y="63341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A6A72"/>
                </a:solidFill>
                <a:latin typeface="Arial"/>
                <a:ea typeface="Arial"/>
                <a:cs typeface="Arial"/>
              </a:defRPr>
            </a:pPr>
            <a:r>
              <a:rPr sz="1725" b="0">
                <a:solidFill>
                  <a:srgbClr val="5A6A72"/>
                </a:solidFill>
                <a:latin typeface="Arial"/>
                <a:ea typeface="Arial"/>
                <a:cs typeface="Arial"/>
              </a:rPr>
              <a:t>January 2005 to September 2026. Forecast tests come later.</a:t>
            </a:r>
          </a:p>
        </p:txBody>
      </p:sp>
      <p:sp>
        <p:nvSpPr>
          <p:cNvPr id="16" name="slide-number">
            <a:extLst xmlns:a="http://schemas.openxmlformats.org/drawingml/2006/main">
              <a:ext uri="{FF2B5EF4-FFF2-40B4-BE49-F238E27FC236}">
                <a16:creationId xmlns:a16="http://schemas.microsoft.com/office/drawing/2014/main" id="{BB259E0E-3F9F-4402-B38D-D25F3E0AA3E5}"/>
              </a:ext>
            </a:extLst>
          </p:cNvPr>
          <p:cNvSpPr>
            <a:spLocks xmlns:a="http://schemas.openxmlformats.org/drawingml/2006/main" noGrp="1"/>
          </p:cNvSpPr>
          <p:nvPr/>
        </p:nvSpPr>
        <p:spPr>
          <a:xfrm xmlns:a="http://schemas.openxmlformats.org/drawingml/2006/main">
            <a:off x="10953750" y="64198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A6A72"/>
                </a:solidFill>
                <a:latin typeface="Arial"/>
                <a:ea typeface="Arial"/>
                <a:cs typeface="Arial"/>
              </a:defRPr>
            </a:pPr>
            <a:r>
              <a:rPr sz="1350" b="0">
                <a:solidFill>
                  <a:srgbClr val="5A6A72"/>
                </a:solidFill>
                <a:latin typeface="Arial"/>
                <a:ea typeface="Arial"/>
                <a:cs typeface="Arial"/>
              </a:rPr>
              <a:t>3 / 5</a:t>
            </a:r>
          </a:p>
        </p:txBody>
      </p:sp>
    </p:spTree>
    <p:extLst>
      <p:ext uri="{BB962C8B-B14F-4D97-AF65-F5344CB8AC3E}">
        <p14:creationId xmlns:p14="http://schemas.microsoft.com/office/powerpoint/2010/main" val="161879337"/>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5631DA4-E24A-4143-8099-F992D68179AE}"/>
              </a:ext>
            </a:extLst>
          </p:cNvPr>
          <p:cNvSpPr>
            <a:spLocks xmlns:a="http://schemas.openxmlformats.org/drawingml/2006/main" noGrp="1"/>
          </p:cNvSpPr>
          <p:nvPr/>
        </p:nvSpPr>
        <p:spPr>
          <a:xfrm xmlns:a="http://schemas.openxmlformats.org/drawingml/2006/main">
            <a:off x="685800" y="5143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03844"/>
                </a:solidFill>
                <a:latin typeface="Arial"/>
                <a:ea typeface="Arial"/>
                <a:cs typeface="Arial"/>
              </a:defRPr>
            </a:pPr>
            <a:r>
              <a:rPr sz="3300" b="1">
                <a:solidFill>
                  <a:srgbClr val="203844"/>
                </a:solidFill>
                <a:latin typeface="Arial"/>
                <a:ea typeface="Arial"/>
                <a:cs typeface="Arial"/>
              </a:rPr>
              <a:t>How we will check our predictions</a:t>
            </a:r>
          </a:p>
        </p:txBody>
      </p:sp>
      <p:sp>
        <p:nvSpPr>
          <p:cNvPr id="2" name="risk-heading">
            <a:extLst xmlns:a="http://schemas.openxmlformats.org/drawingml/2006/main">
              <a:ext uri="{FF2B5EF4-FFF2-40B4-BE49-F238E27FC236}">
                <a16:creationId xmlns:a16="http://schemas.microsoft.com/office/drawing/2014/main" id="{3C766EE9-C3B8-45E6-9EE8-1EC03971EE37}"/>
              </a:ext>
            </a:extLst>
          </p:cNvPr>
          <p:cNvSpPr>
            <a:spLocks xmlns:a="http://schemas.openxmlformats.org/drawingml/2006/main" noGrp="1"/>
          </p:cNvSpPr>
          <p:nvPr/>
        </p:nvSpPr>
        <p:spPr>
          <a:xfrm xmlns:a="http://schemas.openxmlformats.org/drawingml/2006/main">
            <a:off x="685800" y="15240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A74728"/>
                </a:solidFill>
                <a:latin typeface="Arial"/>
                <a:ea typeface="Arial"/>
                <a:cs typeface="Arial"/>
              </a:defRPr>
            </a:pPr>
            <a:r>
              <a:rPr sz="2250" b="1">
                <a:solidFill>
                  <a:srgbClr val="A74728"/>
                </a:solidFill>
                <a:latin typeface="Arial"/>
                <a:ea typeface="Arial"/>
                <a:cs typeface="Arial"/>
              </a:rPr>
              <a:t>The risk: using data published too late</a:t>
            </a:r>
          </a:p>
        </p:txBody>
      </p:sp>
      <p:sp>
        <p:nvSpPr>
          <p:cNvPr id="3" name="risk-example">
            <a:extLst xmlns:a="http://schemas.openxmlformats.org/drawingml/2006/main">
              <a:ext uri="{FF2B5EF4-FFF2-40B4-BE49-F238E27FC236}">
                <a16:creationId xmlns:a16="http://schemas.microsoft.com/office/drawing/2014/main" id="{C93E3BEB-FA0E-4803-9E68-B1A2A72B6BC3}"/>
              </a:ext>
            </a:extLst>
          </p:cNvPr>
          <p:cNvSpPr>
            <a:spLocks xmlns:a="http://schemas.openxmlformats.org/drawingml/2006/main" noGrp="1"/>
          </p:cNvSpPr>
          <p:nvPr/>
        </p:nvSpPr>
        <p:spPr>
          <a:xfrm xmlns:a="http://schemas.openxmlformats.org/drawingml/2006/main">
            <a:off x="685800" y="2047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03844"/>
                </a:solidFill>
                <a:latin typeface="Arial"/>
                <a:ea typeface="Arial"/>
                <a:cs typeface="Arial"/>
              </a:defRPr>
            </a:pPr>
            <a:r>
              <a:rPr sz="2100" b="0">
                <a:solidFill>
                  <a:srgbClr val="203844"/>
                </a:solidFill>
                <a:latin typeface="Arial"/>
                <a:ea typeface="Arial"/>
                <a:cs typeface="Arial"/>
              </a:rPr>
              <a:t>To predict June before it starts, use only data published before June.</a:t>
            </a:r>
          </a:p>
        </p:txBody>
      </p:sp>
      <p:sp>
        <p:nvSpPr>
          <p:cNvPr id="4" name="model-name">
            <a:extLst xmlns:a="http://schemas.openxmlformats.org/drawingml/2006/main">
              <a:ext uri="{FF2B5EF4-FFF2-40B4-BE49-F238E27FC236}">
                <a16:creationId xmlns:a16="http://schemas.microsoft.com/office/drawing/2014/main" id="{60D86F82-A6D5-42FB-B46B-9E6BE0609CAC}"/>
              </a:ext>
            </a:extLst>
          </p:cNvPr>
          <p:cNvSpPr>
            <a:spLocks xmlns:a="http://schemas.openxmlformats.org/drawingml/2006/main" noGrp="1"/>
          </p:cNvSpPr>
          <p:nvPr/>
        </p:nvSpPr>
        <p:spPr>
          <a:xfrm xmlns:a="http://schemas.openxmlformats.org/drawingml/2006/main">
            <a:off x="685800" y="30480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6796E"/>
                </a:solidFill>
                <a:latin typeface="Arial"/>
                <a:ea typeface="Arial"/>
                <a:cs typeface="Arial"/>
              </a:defRPr>
            </a:pPr>
            <a:r>
              <a:rPr sz="2325" b="1">
                <a:solidFill>
                  <a:srgbClr val="16796E"/>
                </a:solidFill>
                <a:latin typeface="Arial"/>
                <a:ea typeface="Arial"/>
                <a:cs typeface="Arial"/>
              </a:rPr>
              <a:t>Linear regression with lagged inputs</a:t>
            </a:r>
          </a:p>
        </p:txBody>
      </p:sp>
      <p:sp>
        <p:nvSpPr>
          <p:cNvPr id="5" name="lag-definition">
            <a:extLst xmlns:a="http://schemas.openxmlformats.org/drawingml/2006/main">
              <a:ext uri="{FF2B5EF4-FFF2-40B4-BE49-F238E27FC236}">
                <a16:creationId xmlns:a16="http://schemas.microsoft.com/office/drawing/2014/main" id="{21F0B2ED-4A61-4F3F-A362-F017AC899901}"/>
              </a:ext>
            </a:extLst>
          </p:cNvPr>
          <p:cNvSpPr>
            <a:spLocks xmlns:a="http://schemas.openxmlformats.org/drawingml/2006/main" noGrp="1"/>
          </p:cNvSpPr>
          <p:nvPr/>
        </p:nvSpPr>
        <p:spPr>
          <a:xfrm xmlns:a="http://schemas.openxmlformats.org/drawingml/2006/main">
            <a:off x="685800" y="35147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203844"/>
                </a:solidFill>
                <a:latin typeface="Arial"/>
                <a:ea typeface="Arial"/>
                <a:cs typeface="Arial"/>
              </a:defRPr>
            </a:pPr>
            <a:r>
              <a:rPr sz="1800" b="0">
                <a:solidFill>
                  <a:srgbClr val="203844"/>
                </a:solidFill>
                <a:latin typeface="Arial"/>
                <a:ea typeface="Arial"/>
                <a:cs typeface="Arial"/>
              </a:rPr>
              <a:t>Lagged inputs are values from earlier months.</a:t>
            </a:r>
          </a:p>
        </p:txBody>
      </p:sp>
      <p:graphicFrame>
        <p:nvGraphicFramePr>
          <p:cNvPr id="16" name=""/>
          <p:cNvGraphicFramePr/>
          <p:nvPr/>
        </p:nvGraphicFramePr>
        <p:xfrm>
          <a:off xmlns:a="http://schemas.openxmlformats.org/drawingml/2006/main" x="685800" y="4105275"/>
          <a:ext xmlns:a="http://schemas.openxmlformats.org/drawingml/2006/main" cx="5772150" cy="1790700"/>
        </p:xfrm>
        <a:graphic xmlns:a="http://schemas.openxmlformats.org/drawingml/2006/main">
          <a:graphicData uri="http://schemas.openxmlformats.org/drawingml/2006/table">
            <a:tbl>
              <a:tblPr/>
              <a:tblGrid>
                <a:gridCol w="1676400"/>
                <a:gridCol w="4095750"/>
              </a:tblGrid>
              <a:tr h="596900">
                <a:tc>
                  <a:txBody>
                    <a:bodyPr/>
                    <a:lstStyle/>
                    <a:p>
                      <a:r>
                        <a:rPr sz="1725" b="1">
                          <a:solidFill>
                            <a:srgbClr val="FFFFFF"/>
                          </a:solidFill>
                          <a:latin typeface="Arial"/>
                          <a:ea typeface="Arial"/>
                          <a:cs typeface="Arial"/>
                        </a:rPr>
                        <a:t>Model</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Past data used</a:t>
                      </a:r>
                    </a:p>
                  </a:txBody>
                  <a:tcPr marL="133350" marR="133350" marT="47625" marB="47625" anchor="ctr">
                    <a:solidFill>
                      <a:srgbClr val="234350"/>
                    </a:solidFill>
                  </a:tcPr>
                </a:tc>
              </a:tr>
              <a:tr h="596900">
                <a:tc>
                  <a:txBody>
                    <a:bodyPr/>
                    <a:lstStyle/>
                    <a:p>
                      <a:r>
                        <a:rPr sz="1800" b="0">
                          <a:solidFill>
                            <a:srgbClr val="203844"/>
                          </a:solidFill>
                          <a:latin typeface="Arial"/>
                          <a:ea typeface="Arial"/>
                          <a:cs typeface="Arial"/>
                        </a:rPr>
                        <a:t>Baseline</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Food inflation</a:t>
                      </a:r>
                    </a:p>
                  </a:txBody>
                  <a:tcPr marL="133350" marR="133350" marT="47625" marB="47625" anchor="ctr">
                    <a:solidFill>
                      <a:srgbClr val="FBE2DA"/>
                    </a:solidFill>
                  </a:tcPr>
                </a:tc>
              </a:tr>
              <a:tr h="596900">
                <a:tc>
                  <a:txBody>
                    <a:bodyPr/>
                    <a:lstStyle/>
                    <a:p>
                      <a:r>
                        <a:rPr sz="1800" b="0">
                          <a:solidFill>
                            <a:srgbClr val="203844"/>
                          </a:solidFill>
                          <a:latin typeface="Arial"/>
                          <a:ea typeface="Arial"/>
                          <a:cs typeface="Arial"/>
                        </a:rPr>
                        <a:t>With extra data</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Food inflation, USD/TRY changes and FAO index changes</a:t>
                      </a:r>
                    </a:p>
                  </a:txBody>
                  <a:tcPr marL="133350" marR="133350" marT="47625" marB="47625" anchor="ctr">
                    <a:solidFill>
                      <a:srgbClr val="DFEAF0"/>
                    </a:solidFill>
                  </a:tcPr>
                </a:tc>
              </a:tr>
            </a:tbl>
          </a:graphicData>
        </a:graphic>
      </p:graphicFrame>
      <p:sp>
        <p:nvSpPr>
          <p:cNvPr id="7" name="validation-name">
            <a:extLst xmlns:a="http://schemas.openxmlformats.org/drawingml/2006/main">
              <a:ext uri="{FF2B5EF4-FFF2-40B4-BE49-F238E27FC236}">
                <a16:creationId xmlns:a16="http://schemas.microsoft.com/office/drawing/2014/main" id="{35DB2A58-CB72-4352-9D0B-E0B8B377AB6F}"/>
              </a:ext>
            </a:extLst>
          </p:cNvPr>
          <p:cNvSpPr>
            <a:spLocks xmlns:a="http://schemas.openxmlformats.org/drawingml/2006/main" noGrp="1"/>
          </p:cNvSpPr>
          <p:nvPr/>
        </p:nvSpPr>
        <p:spPr>
          <a:xfrm xmlns:a="http://schemas.openxmlformats.org/drawingml/2006/main">
            <a:off x="7105650" y="4124325"/>
            <a:ext cx="440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796E"/>
                </a:solidFill>
                <a:latin typeface="Arial"/>
                <a:ea typeface="Arial"/>
                <a:cs typeface="Arial"/>
              </a:defRPr>
            </a:pPr>
            <a:r>
              <a:rPr sz="2025" b="1">
                <a:solidFill>
                  <a:srgbClr val="16796E"/>
                </a:solidFill>
                <a:latin typeface="Arial"/>
                <a:ea typeface="Arial"/>
                <a:cs typeface="Arial"/>
              </a:rPr>
              <a:t>Expanding-window validation</a:t>
            </a:r>
          </a:p>
        </p:txBody>
      </p:sp>
      <p:sp>
        <p:nvSpPr>
          <p:cNvPr id="8" name="validation-steps">
            <a:extLst xmlns:a="http://schemas.openxmlformats.org/drawingml/2006/main">
              <a:ext uri="{FF2B5EF4-FFF2-40B4-BE49-F238E27FC236}">
                <a16:creationId xmlns:a16="http://schemas.microsoft.com/office/drawing/2014/main" id="{FC9036C7-5D44-43C4-8DF7-FFFF23C59C6E}"/>
              </a:ext>
            </a:extLst>
          </p:cNvPr>
          <p:cNvSpPr>
            <a:spLocks xmlns:a="http://schemas.openxmlformats.org/drawingml/2006/main" noGrp="1"/>
          </p:cNvSpPr>
          <p:nvPr/>
        </p:nvSpPr>
        <p:spPr>
          <a:xfrm xmlns:a="http://schemas.openxmlformats.org/drawingml/2006/main">
            <a:off x="7105650" y="4705350"/>
            <a:ext cx="44005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Train on earlier months.</a:t>
            </a:r>
          </a:p>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Predict the next month.</a:t>
            </a:r>
          </a:p>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Compare with the actual value.</a:t>
            </a:r>
          </a:p>
          <a:p xmlns:a="http://schemas.openxmlformats.org/drawingml/2006/main">
            <a:pPr>
              <a:defRPr sz="1875" b="0">
                <a:solidFill>
                  <a:srgbClr val="203844"/>
                </a:solidFill>
                <a:latin typeface="Arial"/>
                <a:ea typeface="Arial"/>
                <a:cs typeface="Arial"/>
              </a:defRPr>
            </a:pPr>
            <a:r>
              <a:rPr sz="1875" b="0">
                <a:solidFill>
                  <a:srgbClr val="203844"/>
                </a:solidFill>
                <a:latin typeface="Arial"/>
                <a:ea typeface="Arial"/>
                <a:cs typeface="Arial"/>
              </a:rPr>
              <a:t>Add that month and repeat.</a:t>
            </a:r>
          </a:p>
        </p:txBody>
      </p:sp>
      <p:sp>
        <p:nvSpPr>
          <p:cNvPr id="9" name="test-fairness">
            <a:extLst xmlns:a="http://schemas.openxmlformats.org/drawingml/2006/main">
              <a:ext uri="{FF2B5EF4-FFF2-40B4-BE49-F238E27FC236}">
                <a16:creationId xmlns:a16="http://schemas.microsoft.com/office/drawing/2014/main" id="{966635A6-BE6D-41DE-B438-0D95C08DBD48}"/>
              </a:ext>
            </a:extLst>
          </p:cNvPr>
          <p:cNvSpPr>
            <a:spLocks xmlns:a="http://schemas.openxmlformats.org/drawingml/2006/main" noGrp="1"/>
          </p:cNvSpPr>
          <p:nvPr/>
        </p:nvSpPr>
        <p:spPr>
          <a:xfrm xmlns:a="http://schemas.openxmlformats.org/drawingml/2006/main">
            <a:off x="685800" y="63341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A6A72"/>
                </a:solidFill>
                <a:latin typeface="Arial"/>
                <a:ea typeface="Arial"/>
                <a:cs typeface="Arial"/>
              </a:defRPr>
            </a:pPr>
            <a:r>
              <a:rPr sz="1725" b="0">
                <a:solidFill>
                  <a:srgbClr val="5A6A72"/>
                </a:solidFill>
                <a:latin typeface="Arial"/>
                <a:ea typeface="Arial"/>
                <a:cs typeface="Arial"/>
              </a:rPr>
              <a:t>Both models predict the same test months.</a:t>
            </a:r>
          </a:p>
        </p:txBody>
      </p:sp>
      <p:sp>
        <p:nvSpPr>
          <p:cNvPr id="10" name="slide-number">
            <a:extLst xmlns:a="http://schemas.openxmlformats.org/drawingml/2006/main">
              <a:ext uri="{FF2B5EF4-FFF2-40B4-BE49-F238E27FC236}">
                <a16:creationId xmlns:a16="http://schemas.microsoft.com/office/drawing/2014/main" id="{8FE9E47A-84F2-4FC9-8ECC-E232CB49A295}"/>
              </a:ext>
            </a:extLst>
          </p:cNvPr>
          <p:cNvSpPr>
            <a:spLocks xmlns:a="http://schemas.openxmlformats.org/drawingml/2006/main" noGrp="1"/>
          </p:cNvSpPr>
          <p:nvPr/>
        </p:nvSpPr>
        <p:spPr>
          <a:xfrm xmlns:a="http://schemas.openxmlformats.org/drawingml/2006/main">
            <a:off x="10953750" y="64198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A6A72"/>
                </a:solidFill>
                <a:latin typeface="Arial"/>
                <a:ea typeface="Arial"/>
                <a:cs typeface="Arial"/>
              </a:defRPr>
            </a:pPr>
            <a:r>
              <a:rPr sz="1350" b="0">
                <a:solidFill>
                  <a:srgbClr val="5A6A72"/>
                </a:solidFill>
                <a:latin typeface="Arial"/>
                <a:ea typeface="Arial"/>
                <a:cs typeface="Arial"/>
              </a:rPr>
              <a:t>4 / 5</a:t>
            </a:r>
          </a:p>
        </p:txBody>
      </p:sp>
    </p:spTree>
    <p:extLst>
      <p:ext uri="{BB962C8B-B14F-4D97-AF65-F5344CB8AC3E}">
        <p14:creationId xmlns:p14="http://schemas.microsoft.com/office/powerpoint/2010/main" val="1611927744"/>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5746C6E-358A-494F-842C-88483A4B931B}"/>
              </a:ext>
            </a:extLst>
          </p:cNvPr>
          <p:cNvSpPr>
            <a:spLocks xmlns:a="http://schemas.openxmlformats.org/drawingml/2006/main" noGrp="1"/>
          </p:cNvSpPr>
          <p:nvPr/>
        </p:nvSpPr>
        <p:spPr>
          <a:xfrm xmlns:a="http://schemas.openxmlformats.org/drawingml/2006/main">
            <a:off x="685800" y="5143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03844"/>
                </a:solidFill>
                <a:latin typeface="Arial"/>
                <a:ea typeface="Arial"/>
                <a:cs typeface="Arial"/>
              </a:defRPr>
            </a:pPr>
            <a:r>
              <a:rPr sz="3450" b="1">
                <a:solidFill>
                  <a:srgbClr val="203844"/>
                </a:solidFill>
                <a:latin typeface="Arial"/>
                <a:ea typeface="Arial"/>
                <a:cs typeface="Arial"/>
              </a:rPr>
              <a:t>Plan and roles</a:t>
            </a:r>
          </a:p>
        </p:txBody>
      </p:sp>
      <p:graphicFrame>
        <p:nvGraphicFramePr>
          <p:cNvPr id="8" name=""/>
          <p:cNvGraphicFramePr/>
          <p:nvPr/>
        </p:nvGraphicFramePr>
        <p:xfrm>
          <a:off xmlns:a="http://schemas.openxmlformats.org/drawingml/2006/main" x="685800" y="1524000"/>
          <a:ext xmlns:a="http://schemas.openxmlformats.org/drawingml/2006/main" cx="10820400" cy="2781300"/>
        </p:xfrm>
        <a:graphic xmlns:a="http://schemas.openxmlformats.org/drawingml/2006/main">
          <a:graphicData uri="http://schemas.openxmlformats.org/drawingml/2006/table">
            <a:tbl>
              <a:tblPr/>
              <a:tblGrid>
                <a:gridCol w="1428750"/>
                <a:gridCol w="3429000"/>
                <a:gridCol w="5962650"/>
              </a:tblGrid>
              <a:tr h="695325">
                <a:tc>
                  <a:txBody>
                    <a:bodyPr/>
                    <a:lstStyle/>
                    <a:p>
                      <a:r>
                        <a:rPr sz="1725" b="1">
                          <a:solidFill>
                            <a:srgbClr val="FFFFFF"/>
                          </a:solidFill>
                          <a:latin typeface="Arial"/>
                          <a:ea typeface="Arial"/>
                          <a:cs typeface="Arial"/>
                        </a:rPr>
                        <a:t>Member</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Work completed</a:t>
                      </a:r>
                    </a:p>
                  </a:txBody>
                  <a:tcPr marL="133350" marR="133350" marT="47625" marB="47625" anchor="ctr">
                    <a:solidFill>
                      <a:srgbClr val="234350"/>
                    </a:solidFill>
                  </a:tcPr>
                </a:tc>
                <a:tc>
                  <a:txBody>
                    <a:bodyPr/>
                    <a:lstStyle/>
                    <a:p>
                      <a:r>
                        <a:rPr sz="1725" b="1">
                          <a:solidFill>
                            <a:srgbClr val="FFFFFF"/>
                          </a:solidFill>
                          <a:latin typeface="Arial"/>
                          <a:ea typeface="Arial"/>
                          <a:cs typeface="Arial"/>
                        </a:rPr>
                        <a:t>Next steps (proposed)</a:t>
                      </a:r>
                    </a:p>
                  </a:txBody>
                  <a:tcPr marL="133350" marR="133350" marT="47625" marB="47625" anchor="ctr">
                    <a:solidFill>
                      <a:srgbClr val="234350"/>
                    </a:solidFill>
                  </a:tcPr>
                </a:tc>
              </a:tr>
              <a:tr h="695325">
                <a:tc>
                  <a:txBody>
                    <a:bodyPr/>
                    <a:lstStyle/>
                    <a:p>
                      <a:r>
                        <a:rPr sz="1800" b="0">
                          <a:solidFill>
                            <a:srgbClr val="203844"/>
                          </a:solidFill>
                          <a:latin typeface="Arial"/>
                          <a:ea typeface="Arial"/>
                          <a:cs typeface="Arial"/>
                        </a:rPr>
                        <a:t>Andrei</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Data</a:t>
                      </a:r>
                    </a:p>
                  </a:txBody>
                  <a:tcPr marL="133350" marR="133350" marT="47625" marB="47625" anchor="ctr">
                    <a:solidFill>
                      <a:srgbClr val="FBE2DA"/>
                    </a:solidFill>
                  </a:tcPr>
                </a:tc>
                <a:tc>
                  <a:txBody>
                    <a:bodyPr/>
                    <a:lstStyle/>
                    <a:p>
                      <a:r>
                        <a:rPr sz="1800" b="0">
                          <a:solidFill>
                            <a:srgbClr val="203844"/>
                          </a:solidFill>
                          <a:latin typeface="Arial"/>
                          <a:ea typeface="Arial"/>
                          <a:cs typeface="Arial"/>
                        </a:rPr>
                        <a:t>Finish dataset; help build regression models</a:t>
                      </a:r>
                    </a:p>
                  </a:txBody>
                  <a:tcPr marL="133350" marR="133350" marT="47625" marB="47625" anchor="ctr">
                    <a:solidFill>
                      <a:srgbClr val="FBE2DA"/>
                    </a:solidFill>
                  </a:tcPr>
                </a:tc>
              </a:tr>
              <a:tr h="695325">
                <a:tc>
                  <a:txBody>
                    <a:bodyPr/>
                    <a:lstStyle/>
                    <a:p>
                      <a:r>
                        <a:rPr sz="1800" b="0">
                          <a:solidFill>
                            <a:srgbClr val="203844"/>
                          </a:solidFill>
                          <a:latin typeface="Arial"/>
                          <a:ea typeface="Arial"/>
                          <a:cs typeface="Arial"/>
                        </a:rPr>
                        <a:t>Daanish</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Script</a:t>
                      </a:r>
                    </a:p>
                  </a:txBody>
                  <a:tcPr marL="133350" marR="133350" marT="47625" marB="47625" anchor="ctr">
                    <a:solidFill>
                      <a:srgbClr val="DFEAF0"/>
                    </a:solidFill>
                  </a:tcPr>
                </a:tc>
                <a:tc>
                  <a:txBody>
                    <a:bodyPr/>
                    <a:lstStyle/>
                    <a:p>
                      <a:r>
                        <a:rPr sz="1800" b="0">
                          <a:solidFill>
                            <a:srgbClr val="203844"/>
                          </a:solidFill>
                          <a:latin typeface="Arial"/>
                          <a:ea typeface="Arial"/>
                          <a:cs typeface="Arial"/>
                        </a:rPr>
                        <a:t>Explore data; create charts</a:t>
                      </a:r>
                    </a:p>
                  </a:txBody>
                  <a:tcPr marL="133350" marR="133350" marT="47625" marB="47625" anchor="ctr">
                    <a:solidFill>
                      <a:srgbClr val="DFEAF0"/>
                    </a:solidFill>
                  </a:tcPr>
                </a:tc>
              </a:tr>
              <a:tr h="695325">
                <a:tc>
                  <a:txBody>
                    <a:bodyPr/>
                    <a:lstStyle/>
                    <a:p>
                      <a:r>
                        <a:rPr sz="1800" b="0">
                          <a:solidFill>
                            <a:srgbClr val="203844"/>
                          </a:solidFill>
                          <a:latin typeface="Arial"/>
                          <a:ea typeface="Arial"/>
                          <a:cs typeface="Arial"/>
                        </a:rPr>
                        <a:t>Rio</a:t>
                      </a:r>
                    </a:p>
                  </a:txBody>
                  <a:tcPr marL="133350" marR="133350" marT="47625" marB="47625" anchor="ctr">
                    <a:solidFill>
                      <a:srgbClr val="DAEEEB"/>
                    </a:solidFill>
                  </a:tcPr>
                </a:tc>
                <a:tc>
                  <a:txBody>
                    <a:bodyPr/>
                    <a:lstStyle/>
                    <a:p>
                      <a:r>
                        <a:rPr sz="1800" b="0">
                          <a:solidFill>
                            <a:srgbClr val="203844"/>
                          </a:solidFill>
                          <a:latin typeface="Arial"/>
                          <a:ea typeface="Arial"/>
                          <a:cs typeface="Arial"/>
                        </a:rPr>
                        <a:t>Presentation</a:t>
                      </a:r>
                    </a:p>
                  </a:txBody>
                  <a:tcPr marL="133350" marR="133350" marT="47625" marB="47625" anchor="ctr">
                    <a:solidFill>
                      <a:srgbClr val="DAEEEB"/>
                    </a:solidFill>
                  </a:tcPr>
                </a:tc>
                <a:tc>
                  <a:txBody>
                    <a:bodyPr/>
                    <a:lstStyle/>
                    <a:p>
                      <a:r>
                        <a:rPr sz="1800" b="0">
                          <a:solidFill>
                            <a:srgbClr val="203844"/>
                          </a:solidFill>
                          <a:latin typeface="Arial"/>
                          <a:ea typeface="Arial"/>
                          <a:cs typeface="Arial"/>
                        </a:rPr>
                        <a:t>Run forecast evaluation; review errors</a:t>
                      </a:r>
                    </a:p>
                  </a:txBody>
                  <a:tcPr marL="133350" marR="133350" marT="47625" marB="47625" anchor="ctr">
                    <a:solidFill>
                      <a:srgbClr val="DAEEEB"/>
                    </a:solidFill>
                  </a:tcPr>
                </a:tc>
              </a:tr>
            </a:tbl>
          </a:graphicData>
        </a:graphic>
      </p:graphicFrame>
      <p:sp>
        <p:nvSpPr>
          <p:cNvPr id="3" name="checkpoint-heading">
            <a:extLst xmlns:a="http://schemas.openxmlformats.org/drawingml/2006/main">
              <a:ext uri="{FF2B5EF4-FFF2-40B4-BE49-F238E27FC236}">
                <a16:creationId xmlns:a16="http://schemas.microsoft.com/office/drawing/2014/main" id="{5D59F9A4-5336-4FD5-94BC-7D73D75F89B5}"/>
              </a:ext>
            </a:extLst>
          </p:cNvPr>
          <p:cNvSpPr>
            <a:spLocks xmlns:a="http://schemas.openxmlformats.org/drawingml/2006/main" noGrp="1"/>
          </p:cNvSpPr>
          <p:nvPr/>
        </p:nvSpPr>
        <p:spPr>
          <a:xfrm xmlns:a="http://schemas.openxmlformats.org/drawingml/2006/main">
            <a:off x="685800" y="46863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6796E"/>
                </a:solidFill>
                <a:latin typeface="Arial"/>
                <a:ea typeface="Arial"/>
                <a:cs typeface="Arial"/>
              </a:defRPr>
            </a:pPr>
            <a:r>
              <a:rPr sz="2250" b="1">
                <a:solidFill>
                  <a:srgbClr val="16796E"/>
                </a:solidFill>
                <a:latin typeface="Arial"/>
                <a:ea typeface="Arial"/>
                <a:cs typeface="Arial"/>
              </a:rPr>
              <a:t>By 23 November</a:t>
            </a:r>
          </a:p>
        </p:txBody>
      </p:sp>
      <p:sp>
        <p:nvSpPr>
          <p:cNvPr id="4" name="checkpoint-output">
            <a:extLst xmlns:a="http://schemas.openxmlformats.org/drawingml/2006/main">
              <a:ext uri="{FF2B5EF4-FFF2-40B4-BE49-F238E27FC236}">
                <a16:creationId xmlns:a16="http://schemas.microsoft.com/office/drawing/2014/main" id="{01D29096-5AC3-42F3-8981-5A51F538D7D1}"/>
              </a:ext>
            </a:extLst>
          </p:cNvPr>
          <p:cNvSpPr>
            <a:spLocks xmlns:a="http://schemas.openxmlformats.org/drawingml/2006/main" noGrp="1"/>
          </p:cNvSpPr>
          <p:nvPr/>
        </p:nvSpPr>
        <p:spPr>
          <a:xfrm xmlns:a="http://schemas.openxmlformats.org/drawingml/2006/main">
            <a:off x="685800" y="51816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03844"/>
                </a:solidFill>
                <a:latin typeface="Arial"/>
                <a:ea typeface="Arial"/>
                <a:cs typeface="Arial"/>
              </a:defRPr>
            </a:pPr>
            <a:r>
              <a:rPr sz="2025" b="0">
                <a:solidFill>
                  <a:srgbClr val="203844"/>
                </a:solidFill>
                <a:latin typeface="Arial"/>
                <a:ea typeface="Arial"/>
                <a:cs typeface="Arial"/>
              </a:rPr>
              <a:t>Documented dataset, first charts and initial baseline comparison</a:t>
            </a:r>
          </a:p>
        </p:txBody>
      </p:sp>
      <p:sp>
        <p:nvSpPr>
          <p:cNvPr id="5" name="shared-work">
            <a:extLst xmlns:a="http://schemas.openxmlformats.org/drawingml/2006/main">
              <a:ext uri="{FF2B5EF4-FFF2-40B4-BE49-F238E27FC236}">
                <a16:creationId xmlns:a16="http://schemas.microsoft.com/office/drawing/2014/main" id="{07D7F052-92AF-4947-BBA7-74307B0B36F0}"/>
              </a:ext>
            </a:extLst>
          </p:cNvPr>
          <p:cNvSpPr>
            <a:spLocks xmlns:a="http://schemas.openxmlformats.org/drawingml/2006/main" noGrp="1"/>
          </p:cNvSpPr>
          <p:nvPr/>
        </p:nvSpPr>
        <p:spPr>
          <a:xfrm xmlns:a="http://schemas.openxmlformats.org/drawingml/2006/main">
            <a:off x="685800" y="58293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03844"/>
                </a:solidFill>
                <a:latin typeface="Arial"/>
                <a:ea typeface="Arial"/>
                <a:cs typeface="Arial"/>
              </a:defRPr>
            </a:pPr>
            <a:r>
              <a:rPr sz="2025" b="0">
                <a:solidFill>
                  <a:srgbClr val="203844"/>
                </a:solidFill>
                <a:latin typeface="Arial"/>
                <a:ea typeface="Arial"/>
                <a:cs typeface="Arial"/>
              </a:rPr>
              <a:t>Everyone reviews results and prepares the report and presentations.</a:t>
            </a:r>
          </a:p>
        </p:txBody>
      </p:sp>
      <p:sp>
        <p:nvSpPr>
          <p:cNvPr id="6" name="slide-number">
            <a:extLst xmlns:a="http://schemas.openxmlformats.org/drawingml/2006/main">
              <a:ext uri="{FF2B5EF4-FFF2-40B4-BE49-F238E27FC236}">
                <a16:creationId xmlns:a16="http://schemas.microsoft.com/office/drawing/2014/main" id="{14540B41-2A33-4A87-AB22-219C9E9E1808}"/>
              </a:ext>
            </a:extLst>
          </p:cNvPr>
          <p:cNvSpPr>
            <a:spLocks xmlns:a="http://schemas.openxmlformats.org/drawingml/2006/main" noGrp="1"/>
          </p:cNvSpPr>
          <p:nvPr/>
        </p:nvSpPr>
        <p:spPr>
          <a:xfrm xmlns:a="http://schemas.openxmlformats.org/drawingml/2006/main">
            <a:off x="10953750" y="64198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A6A72"/>
                </a:solidFill>
                <a:latin typeface="Arial"/>
                <a:ea typeface="Arial"/>
                <a:cs typeface="Arial"/>
              </a:defRPr>
            </a:pPr>
            <a:r>
              <a:rPr sz="1350" b="0">
                <a:solidFill>
                  <a:srgbClr val="5A6A72"/>
                </a:solidFill>
                <a:latin typeface="Arial"/>
                <a:ea typeface="Arial"/>
                <a:cs typeface="Arial"/>
              </a:rPr>
              <a:t>5 / 5</a:t>
            </a:r>
          </a:p>
        </p:txBody>
      </p:sp>
    </p:spTree>
    <p:extLst>
      <p:ext uri="{BB962C8B-B14F-4D97-AF65-F5344CB8AC3E}">
        <p14:creationId xmlns:p14="http://schemas.microsoft.com/office/powerpoint/2010/main" val="1025955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2026-10-18T10:40:00.1690000Z</dcterms:created>
  <dcterms:modified xsi:type="dcterms:W3CDTF">2026-10-18T10:40:00.1690000Z</dcterms:modified>
</coreProperties>
</file>